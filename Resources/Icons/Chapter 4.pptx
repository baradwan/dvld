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349" r:id="rId2"/>
    <p:sldId id="351" r:id="rId3"/>
    <p:sldId id="369" r:id="rId4"/>
    <p:sldId id="423" r:id="rId5"/>
    <p:sldId id="409" r:id="rId6"/>
    <p:sldId id="424" r:id="rId7"/>
    <p:sldId id="410" r:id="rId8"/>
    <p:sldId id="425" r:id="rId9"/>
    <p:sldId id="411" r:id="rId10"/>
    <p:sldId id="429" r:id="rId11"/>
    <p:sldId id="416" r:id="rId12"/>
    <p:sldId id="432" r:id="rId13"/>
    <p:sldId id="433" r:id="rId14"/>
    <p:sldId id="435" r:id="rId15"/>
    <p:sldId id="436" r:id="rId16"/>
    <p:sldId id="419" r:id="rId17"/>
    <p:sldId id="437" r:id="rId18"/>
    <p:sldId id="438" r:id="rId19"/>
    <p:sldId id="439" r:id="rId20"/>
    <p:sldId id="440" r:id="rId21"/>
    <p:sldId id="444" r:id="rId22"/>
  </p:sldIdLst>
  <p:sldSz cx="12192000" cy="6858000"/>
  <p:notesSz cx="6858000" cy="9144000"/>
  <p:defaultText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95"/>
    <p:restoredTop sz="92474"/>
  </p:normalViewPr>
  <p:slideViewPr>
    <p:cSldViewPr snapToGrid="0">
      <p:cViewPr varScale="1">
        <p:scale>
          <a:sx n="107" d="100"/>
          <a:sy n="107" d="100"/>
        </p:scale>
        <p:origin x="46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9D55FF-0C0F-2045-90A8-B8DB6A3BB538}" type="datetimeFigureOut">
              <a:rPr lang="en-SA" smtClean="0"/>
              <a:t>10/10/26</a:t>
            </a:fld>
            <a:endParaRPr lang="en-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50BE1D-B937-F842-BA73-9AB00CE19215}" type="slidenum">
              <a:rPr lang="en-SA" smtClean="0"/>
              <a:t>‹#›</a:t>
            </a:fld>
            <a:endParaRPr lang="en-SA"/>
          </a:p>
        </p:txBody>
      </p:sp>
    </p:spTree>
    <p:extLst>
      <p:ext uri="{BB962C8B-B14F-4D97-AF65-F5344CB8AC3E}">
        <p14:creationId xmlns:p14="http://schemas.microsoft.com/office/powerpoint/2010/main" val="2337559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227434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describes a hierarchy of data that is used to store information in a database, progressing from the database as the top-level holder of information down through the field, which stores information about an entity</a:t>
            </a:r>
            <a:r>
              <a:rPr lang="en-US" altLang="ja-JP" dirty="0"/>
              <a:t>’s attribute. This hierarchy is illustrated by the graphic on the next slide. Ask students to come up with some other entities that might be found in a university database (Student, Professor, etc.). What attributes (characteristics) would be important to store in the database? </a:t>
            </a:r>
          </a:p>
          <a:p>
            <a:endParaRPr lang="en-US" altLang="ja-JP"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104968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 computer system organizes data in a hierarchy that starts with the bit, which represents either a 0 or a 1. Bits can be grouped to form a byte to represent one character, number, or symbol. Bytes can be grouped to form a field, and related fields can be grouped to form a record. Related records can be collected to form a file, and related files can be organized into a database.</a:t>
            </a:r>
            <a:endParaRPr lang="en-US" alt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hierarchy of data found in a database. It shows the student course file grouped with files on students</a:t>
            </a:r>
            <a:r>
              <a:rPr lang="ja-JP" altLang="en-US" dirty="0"/>
              <a:t>’</a:t>
            </a:r>
            <a:r>
              <a:rPr lang="en-US" altLang="ja-JP" dirty="0"/>
              <a:t> personal histories and financial backgrounds that form the student database. It illustrates what data is found at each hierarchical level, from the database level down</a:t>
            </a:r>
            <a:endParaRPr lang="en-US" alt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endParaRPr lang="en-US" sz="1200" b="0" i="0" u="none" strike="noStrike" kern="1200" baseline="0" dirty="0">
              <a:solidFill>
                <a:schemeClr val="tx1"/>
              </a:solidFill>
              <a:latin typeface="+mn-lt"/>
              <a:ea typeface="+mn-ea"/>
              <a:cs typeface="+mn-cs"/>
            </a:endParaRPr>
          </a:p>
          <a:p>
            <a:endParaRPr lang="en-US" altLang="en-US" sz="1200" b="0" i="0" u="none" strike="noStrike" kern="1200" baseline="0" dirty="0">
              <a:solidFill>
                <a:schemeClr val="tx1"/>
              </a:solidFill>
              <a:latin typeface="+mn-lt"/>
              <a:ea typeface="+mn-ea"/>
              <a:cs typeface="+mn-cs"/>
            </a:endParaRPr>
          </a:p>
          <a:p>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7625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Choose 3</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970858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use of a traditional approach to file processing encourages each functional area in a corporation to develop specialized applications. Each application requires a unique data file that is likely to be a subset of the master file. These subsets of the master file lead to data redundancy and inconsistency, processing inflexibility, and wasted storage resources.</a:t>
            </a:r>
            <a:endParaRPr lang="en-US" alt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a traditional environment, in which different business functions maintain separate data and applications to store and access that data. Ask students what kinds of data might be shared between accounting/finance and HR. What about between sales and marketing and manufacturing?</a:t>
            </a:r>
          </a:p>
          <a:p>
            <a:endParaRPr lang="en-US" altLang="en-US" baseline="0" dirty="0"/>
          </a:p>
          <a:p>
            <a:endParaRPr lang="en-US" sz="1200" b="0" i="0" u="none" strike="noStrike" kern="1200" baseline="0" dirty="0">
              <a:solidFill>
                <a:schemeClr val="tx1"/>
              </a:solidFill>
              <a:latin typeface="+mn-lt"/>
              <a:ea typeface="+mn-ea"/>
              <a:cs typeface="+mn-cs"/>
            </a:endParaRPr>
          </a:p>
          <a:p>
            <a:endParaRPr lang="en-US" altLang="en-US" sz="1200" b="0" i="0" u="none" strike="noStrike" kern="1200" baseline="0" dirty="0">
              <a:solidFill>
                <a:schemeClr val="tx1"/>
              </a:solidFill>
              <a:latin typeface="+mn-lt"/>
              <a:ea typeface="+mn-ea"/>
              <a:cs typeface="+mn-cs"/>
            </a:endParaRPr>
          </a:p>
          <a:p>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834977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defines and describes databases and DBMS. Ask students to explain what the difference is between a database and a DBMS. What is the physical view of data? What is the logical view of data?</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511990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The orange rectangles represent two different views in an HR database, one for reviewing employee benefits, the other for accessing payroll records. The students can think of the green cylinder as the physical view, which shows how the data are actually organized and stored on the physical media. The physical data do not change, but a DBMS can create many different logical views to suit different needs of users.</a:t>
            </a:r>
          </a:p>
          <a:p>
            <a:endParaRPr lang="en-US" altLang="en-US" baseline="0" dirty="0"/>
          </a:p>
          <a:p>
            <a:r>
              <a:rPr lang="en-US" sz="1200" b="0" i="0" u="none" strike="noStrike" kern="1200" baseline="0" dirty="0">
                <a:solidFill>
                  <a:schemeClr val="tx1"/>
                </a:solidFill>
                <a:latin typeface="+mn-lt"/>
                <a:ea typeface="+mn-ea"/>
                <a:cs typeface="+mn-cs"/>
              </a:rPr>
              <a:t>SSN: </a:t>
            </a:r>
            <a:r>
              <a:rPr lang="en-US" dirty="0"/>
              <a:t>Social Security Number</a:t>
            </a:r>
            <a:endParaRPr lang="en-US" sz="1200" b="0" i="0" u="none" strike="noStrike" kern="1200" baseline="0" dirty="0">
              <a:solidFill>
                <a:schemeClr val="tx1"/>
              </a:solidFill>
              <a:latin typeface="+mn-lt"/>
              <a:ea typeface="+mn-ea"/>
              <a:cs typeface="+mn-cs"/>
            </a:endParaRPr>
          </a:p>
          <a:p>
            <a:endParaRPr lang="en-US" altLang="en-US" sz="1200" b="0" i="0" u="none" strike="noStrike" kern="1200" baseline="0" dirty="0">
              <a:solidFill>
                <a:schemeClr val="tx1"/>
              </a:solidFill>
              <a:latin typeface="+mn-lt"/>
              <a:ea typeface="+mn-ea"/>
              <a:cs typeface="+mn-cs"/>
            </a:endParaRPr>
          </a:p>
          <a:p>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581304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introduces the most common type of DBMS in use with PCs, servers, and mainframes today, the relational database. Ask students why these DBMS are called relational. Ask students for examples of RDBMS software popular today and if they have every used any of this software. You can walk students through an example database that you have prepared in Access or use one of the exercise data tables found at the end of the chapter. Identify rows, fields, and primary key.</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85432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6.4,</a:t>
            </a:r>
            <a:r>
              <a:rPr lang="en-US" altLang="en-US" baseline="0" dirty="0"/>
              <a:t> Page 219.</a:t>
            </a:r>
          </a:p>
          <a:p>
            <a:r>
              <a:rPr lang="en-US" sz="1200" b="0" i="0" u="none" strike="noStrike" kern="1200" baseline="0" dirty="0">
                <a:solidFill>
                  <a:schemeClr val="tx1"/>
                </a:solidFill>
                <a:latin typeface="+mn-lt"/>
                <a:ea typeface="+mn-ea"/>
                <a:cs typeface="+mn-cs"/>
              </a:rPr>
              <a:t>A relational database organizes data in the form of two-dimensional tables. Illustrated here are tables for the entities SUPPLIER and PART showing how they represent each entity and its attributes. Supplier_Number is a primary key for the SUPPLIER table and a foreign key for the PART table.</a:t>
            </a:r>
          </a:p>
          <a:p>
            <a:endParaRPr lang="en-US" alt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graphic on this slide illustrates two tables in a relational DBMS. Ask students what the entity on this slide and the next are. The key field in the Supplier table is the Supplier number. What is the purpose of the key field?</a:t>
            </a:r>
          </a:p>
          <a:p>
            <a:endParaRPr lang="en-US" altLang="en-US" baseline="0" dirty="0"/>
          </a:p>
          <a:p>
            <a:endParaRPr lang="en-US" sz="1200" b="0" i="0" u="none" strike="noStrike" kern="1200" baseline="0" dirty="0">
              <a:solidFill>
                <a:schemeClr val="tx1"/>
              </a:solidFill>
              <a:latin typeface="+mn-lt"/>
              <a:ea typeface="+mn-ea"/>
              <a:cs typeface="+mn-cs"/>
            </a:endParaRPr>
          </a:p>
          <a:p>
            <a:endParaRPr lang="en-US" altLang="en-US" sz="1200" b="0" i="0" u="none" strike="noStrike" kern="1200" baseline="0" dirty="0">
              <a:solidFill>
                <a:schemeClr val="tx1"/>
              </a:solidFill>
              <a:latin typeface="+mn-lt"/>
              <a:ea typeface="+mn-ea"/>
              <a:cs typeface="+mn-cs"/>
            </a:endParaRPr>
          </a:p>
          <a:p>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502560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describes activities involved in designing a database. To create an efficient database, you must know what the relationships are among the various data elements, the types of data that will be stored, and how the organization will need to manage the data. Note that the conceptual database design is concerned with how the data elements will be grouped, what data in what tables will make the most efficient organizations.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continues the discussion about designing databases. One technique database designers use in modeling the structure of the data is to use an entity-relationship diagram (illustrated on the next slide). Symbols on the diagram illustrate the types of relationships between entities. Ask students what different types of relationships there are between entities (one-to-one, one-to-many, many-to-many).</a:t>
            </a:r>
            <a:endParaRPr lang="en-US" alt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773409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An unnormalized relation contains repeating groups. For example, there can be many parts and suppliers for each order. There is only a one-to-one correspondence between Order_Number and Order_Date.</a:t>
            </a:r>
          </a:p>
          <a:p>
            <a:endParaRPr lang="en-US" altLang="en-US" sz="1200" b="0" i="0" u="none" strike="noStrike" kern="1200" baseline="0" dirty="0">
              <a:solidFill>
                <a:schemeClr val="tx1"/>
              </a:solidFill>
              <a:latin typeface="+mn-lt"/>
              <a:ea typeface="+mn-ea"/>
              <a:cs typeface="+mn-cs"/>
            </a:endParaRPr>
          </a:p>
          <a:p>
            <a:pPr eaLnBrk="1" hangingPunct="1"/>
            <a:r>
              <a:rPr lang="en-US" altLang="en-US" dirty="0"/>
              <a:t>The graphics on this slide and the next illustrate the process of normalization. Here, one table lists the relevant data elements for the entity ORDER. These include all of the details about the order, the part, the supplier.</a:t>
            </a:r>
          </a:p>
          <a:p>
            <a:pPr eaLnBrk="1" hangingPunct="1"/>
            <a:endParaRPr lang="en-US" altLang="en-US" dirty="0"/>
          </a:p>
          <a:p>
            <a:pPr eaLnBrk="1" hangingPunct="1"/>
            <a:r>
              <a:rPr lang="en-US" altLang="en-US" dirty="0"/>
              <a:t>An order can include more than one part, and it may be that several parts are supplied by the same supplier. However, using this table, the supplier</a:t>
            </a:r>
            <a:r>
              <a:rPr lang="en-US" altLang="ja-JP" dirty="0"/>
              <a:t>’s name, and other information might need to be stored several times on the order list. </a:t>
            </a:r>
          </a:p>
          <a:p>
            <a:endParaRPr lang="en-US" altLang="en-US" baseline="0" dirty="0"/>
          </a:p>
          <a:p>
            <a:endParaRPr lang="en-US" sz="1200" b="0" i="0" u="none" strike="noStrike" kern="1200" baseline="0" dirty="0">
              <a:solidFill>
                <a:schemeClr val="tx1"/>
              </a:solidFill>
              <a:latin typeface="+mn-lt"/>
              <a:ea typeface="+mn-ea"/>
              <a:cs typeface="+mn-cs"/>
            </a:endParaRPr>
          </a:p>
          <a:p>
            <a:endParaRPr lang="en-US" altLang="en-US" sz="1200" b="0" i="0" u="none" strike="noStrike" kern="1200" baseline="0" dirty="0">
              <a:solidFill>
                <a:schemeClr val="tx1"/>
              </a:solidFill>
              <a:latin typeface="+mn-lt"/>
              <a:ea typeface="+mn-ea"/>
              <a:cs typeface="+mn-cs"/>
            </a:endParaRPr>
          </a:p>
          <a:p>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092662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Business intelligence is a very amorphous notion that is not well defined. In this course we refer instead to a “business intelligence” environment which is composed of many different components (including both technology and management dimensions).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eaLnBrk="1" hangingPunct="1"/>
            <a:r>
              <a:rPr lang="en-US" altLang="en-US" dirty="0"/>
              <a:t>This slide discusses the use of data warehouses and data marts by firms. </a:t>
            </a:r>
          </a:p>
          <a:p>
            <a:pPr eaLnBrk="1" hangingPunct="1"/>
            <a:endParaRPr lang="en-US" altLang="en-US" dirty="0"/>
          </a:p>
          <a:p>
            <a:pPr eaLnBrk="1" hangingPunct="1"/>
            <a:r>
              <a:rPr lang="en-US" altLang="en-US" dirty="0"/>
              <a:t>Ask students why having a data warehouse is an advantage for firms hoping to perform business analyses on the data? Why does there have to be a repository of data that is separate from the transaction database?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453260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070033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 modern business intelligence infrastructure features capabilities and tools to manage and analyze large quantities and different types of data from multiple sources. Easy-to-use query and reporting tools for casual business users and more sophisticated analytical toolsets for power users are included.</a:t>
            </a:r>
          </a:p>
          <a:p>
            <a:endParaRPr lang="en-US" alt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components of a data warehouse system. It shows that the data warehouse extracts data from multiple sources, both internal and external, including a Hadoop cluster, and transforms it as needed for the data warehouse systems. An analytic platform has tools for power users, including reporting, and data mining, to extract meaningful information from the data warehouse and Hadoop cluster. A subset of the data warehouse is collected in a data mart for casual groups of users.</a:t>
            </a:r>
          </a:p>
          <a:p>
            <a:endParaRPr lang="en-US" altLang="en-US" baseline="0" dirty="0"/>
          </a:p>
          <a:p>
            <a:endParaRPr lang="en-US" sz="1200" b="0" i="0" u="none" strike="noStrike" kern="1200" baseline="0" dirty="0">
              <a:solidFill>
                <a:schemeClr val="tx1"/>
              </a:solidFill>
              <a:latin typeface="+mn-lt"/>
              <a:ea typeface="+mn-ea"/>
              <a:cs typeface="+mn-cs"/>
            </a:endParaRPr>
          </a:p>
          <a:p>
            <a:endParaRPr lang="en-US" altLang="en-US" sz="1200" b="0" i="0" u="none" strike="noStrike" kern="1200" baseline="0" dirty="0">
              <a:solidFill>
                <a:schemeClr val="tx1"/>
              </a:solidFill>
              <a:latin typeface="+mn-lt"/>
              <a:ea typeface="+mn-ea"/>
              <a:cs typeface="+mn-cs"/>
            </a:endParaRPr>
          </a:p>
          <a:p>
            <a:endParaRPr lang="en-US" alt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620517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illustrates the role and types of analytical tools and techniques for finding useful information and relationships in large data sets.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670269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This slide discusses online analytical processing, one of the three principle tools for gathering business intelligence. </a:t>
            </a:r>
          </a:p>
          <a:p>
            <a:pPr eaLnBrk="1" hangingPunct="1"/>
            <a:endParaRPr lang="en-US" altLang="en-US" dirty="0"/>
          </a:p>
          <a:p>
            <a:pPr eaLnBrk="1" hangingPunct="1"/>
            <a:r>
              <a:rPr lang="en-US" altLang="en-US" dirty="0"/>
              <a:t>Ask students to come up with additional examples of what a multidimensional query might be.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2950040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dirty="0">
                <a:ea typeface="+mn-ea"/>
                <a:cs typeface="+mn-cs"/>
              </a:rPr>
              <a:t>This slide discusses another business intelligence tool driven by databases, data mining. Data mining provides insights into data that cannot be discovered through OLAP, by inferring rules from patterns in data.</a:t>
            </a:r>
          </a:p>
          <a:p>
            <a:pPr eaLnBrk="1" hangingPunct="1">
              <a:defRPr/>
            </a:pPr>
            <a:endParaRPr lang="en-US" dirty="0">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154473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Whereas data mining describes analysis of data in databases, there are other types of information that can be </a:t>
            </a:r>
            <a:r>
              <a:rPr lang="ja-JP" altLang="en-US" dirty="0"/>
              <a:t>“</a:t>
            </a:r>
            <a:r>
              <a:rPr lang="en-US" altLang="ja-JP" dirty="0"/>
              <a:t>mined,</a:t>
            </a:r>
            <a:r>
              <a:rPr lang="ja-JP" altLang="en-US" dirty="0"/>
              <a:t>”</a:t>
            </a:r>
            <a:r>
              <a:rPr lang="en-US" altLang="ja-JP" dirty="0"/>
              <a:t> such as text mining and web mining. Ask students what other types of unstructured textual data sets a company might store, and what kind of useful information might be extracted from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continues the exploration of mining stored data for valuable information. In addition to text mining, there are several ways to mine information on the web. The text uses the example of marketers using Google Trends and Google Insights for Search services, which track the popularity of various words and phrases used in Google search queries, to learn what people are interested in and what they are interested in buying. What type of web mining is this? Why might a marketer be interested in the number of web pages that link to a site.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611475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E821D-3BDA-62FB-52E7-9E33C3B5C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3CB66-D337-B650-3E5A-E87D203B1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C8A230-9393-1F4C-F18A-6A42B40739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Slide Number Placeholder 3">
            <a:extLst>
              <a:ext uri="{FF2B5EF4-FFF2-40B4-BE49-F238E27FC236}">
                <a16:creationId xmlns:a16="http://schemas.microsoft.com/office/drawing/2014/main" id="{F8F923ED-7525-3FAA-A45C-AA59033A64E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26345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12192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914400" y="762001"/>
            <a:ext cx="103632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899583" y="3962400"/>
            <a:ext cx="10392835"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125292" y="6172201"/>
            <a:ext cx="11460480" cy="235463"/>
          </a:xfrm>
        </p:spPr>
        <p:txBody>
          <a:bodyPr/>
          <a:lstStyle/>
          <a:p>
            <a:endParaRPr lang="en-US" dirty="0"/>
          </a:p>
        </p:txBody>
      </p:sp>
      <p:sp>
        <p:nvSpPr>
          <p:cNvPr id="4" name="Date Placeholder 3"/>
          <p:cNvSpPr>
            <a:spLocks noGrp="1"/>
          </p:cNvSpPr>
          <p:nvPr>
            <p:ph type="dt" sz="half" idx="10"/>
          </p:nvPr>
        </p:nvSpPr>
        <p:spPr/>
        <p:txBody>
          <a:bodyPr/>
          <a:lstStyle/>
          <a:p>
            <a:fld id="{28C7EA1C-6997-4BC5-99AF-D6B79EC1982D}" type="datetime12">
              <a:rPr lang="en-US" smtClean="0"/>
              <a:t>5:46 PM</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73810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609600" y="215372"/>
            <a:ext cx="109728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609600" y="816430"/>
            <a:ext cx="109728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6705600" y="1600202"/>
            <a:ext cx="48768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6705600" y="3200401"/>
            <a:ext cx="48768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125292" y="6165338"/>
            <a:ext cx="11460480" cy="235463"/>
          </a:xfrm>
        </p:spPr>
        <p:txBody>
          <a:bodyPr/>
          <a:lstStyle/>
          <a:p>
            <a:endParaRPr lang="en-US" dirty="0"/>
          </a:p>
        </p:txBody>
      </p:sp>
      <p:sp>
        <p:nvSpPr>
          <p:cNvPr id="4" name="Date Placeholder 3"/>
          <p:cNvSpPr>
            <a:spLocks noGrp="1"/>
          </p:cNvSpPr>
          <p:nvPr>
            <p:ph type="dt" sz="half" idx="11"/>
          </p:nvPr>
        </p:nvSpPr>
        <p:spPr/>
        <p:txBody>
          <a:bodyPr/>
          <a:lstStyle/>
          <a:p>
            <a:fld id="{BAE79B0A-F6AC-4CBC-B97D-D516D8404017}" type="datetime12">
              <a:rPr lang="en-US" smtClean="0"/>
              <a:t>5:46 PM</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376790"/>
            <a:ext cx="1224000" cy="279915"/>
          </a:xfrm>
          <a:prstGeom prst="rect">
            <a:avLst/>
          </a:prstGeom>
        </p:spPr>
      </p:pic>
      <p:sp>
        <p:nvSpPr>
          <p:cNvPr id="13" name="TextBox 12"/>
          <p:cNvSpPr txBox="1"/>
          <p:nvPr userDrawn="1"/>
        </p:nvSpPr>
        <p:spPr>
          <a:xfrm>
            <a:off x="2133600" y="6429346"/>
            <a:ext cx="95504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IN" altLang="en-US" sz="700" b="1" dirty="0">
                <a:ea typeface="Verdana" panose="020B0604030504040204" pitchFamily="34" charset="0"/>
                <a:cs typeface="Verdana" panose="020B0604030504040204" pitchFamily="34" charset="0"/>
              </a:rPr>
              <a:t>Copyright © 2018 Pearson Education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79975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609600" y="215372"/>
            <a:ext cx="109728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609600" y="816430"/>
            <a:ext cx="109728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609600" y="1600201"/>
            <a:ext cx="109728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125292" y="6172201"/>
            <a:ext cx="11460480" cy="235463"/>
          </a:xfrm>
        </p:spPr>
        <p:txBody>
          <a:bodyPr/>
          <a:lstStyle/>
          <a:p>
            <a:endParaRPr lang="en-US" dirty="0"/>
          </a:p>
        </p:txBody>
      </p:sp>
      <p:sp>
        <p:nvSpPr>
          <p:cNvPr id="4" name="Date Placeholder 3"/>
          <p:cNvSpPr>
            <a:spLocks noGrp="1"/>
          </p:cNvSpPr>
          <p:nvPr>
            <p:ph type="dt" sz="half" idx="11"/>
          </p:nvPr>
        </p:nvSpPr>
        <p:spPr/>
        <p:txBody>
          <a:bodyPr/>
          <a:lstStyle/>
          <a:p>
            <a:fld id="{D7CCD035-622C-4223-9B6B-E91DD558985C}" type="datetime12">
              <a:rPr lang="en-US" smtClean="0"/>
              <a:t>5:46 PM</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5588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000"/>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125292" y="6172201"/>
            <a:ext cx="11460480" cy="235463"/>
          </a:xfrm>
        </p:spPr>
        <p:txBody>
          <a:bodyPr/>
          <a:lstStyle/>
          <a:p>
            <a:endParaRPr lang="en-US" dirty="0"/>
          </a:p>
        </p:txBody>
      </p:sp>
      <p:sp>
        <p:nvSpPr>
          <p:cNvPr id="9" name="Date Placeholder 3"/>
          <p:cNvSpPr>
            <a:spLocks noGrp="1"/>
          </p:cNvSpPr>
          <p:nvPr>
            <p:ph type="dt" sz="half" idx="10"/>
          </p:nvPr>
        </p:nvSpPr>
        <p:spPr>
          <a:xfrm>
            <a:off x="9183327" y="319889"/>
            <a:ext cx="2844800" cy="182880"/>
          </a:xfrm>
        </p:spPr>
        <p:txBody>
          <a:bodyPr/>
          <a:lstStyle/>
          <a:p>
            <a:fld id="{EAFC8639-5410-49D1-90C2-8854C271EAE8}" type="datetime12">
              <a:rPr lang="en-US" smtClean="0"/>
              <a:t>5:46 PM</a:t>
            </a:fld>
            <a:endParaRPr lang="en-US" dirty="0"/>
          </a:p>
        </p:txBody>
      </p:sp>
      <p:sp>
        <p:nvSpPr>
          <p:cNvPr id="10" name="Slide Number Placeholder 5"/>
          <p:cNvSpPr>
            <a:spLocks noGrp="1"/>
          </p:cNvSpPr>
          <p:nvPr>
            <p:ph type="sldNum" sz="quarter" idx="12"/>
          </p:nvPr>
        </p:nvSpPr>
        <p:spPr>
          <a:xfrm>
            <a:off x="11292417" y="113072"/>
            <a:ext cx="735711"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01852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INSIGHT 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008638"/>
                </a:solidFill>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8638"/>
              </a:buClr>
              <a:buSzPct val="100000"/>
              <a:defRPr sz="2800"/>
            </a:lvl1pPr>
            <a:lvl2pPr>
              <a:buClr>
                <a:srgbClr val="008638"/>
              </a:buClr>
              <a:defRPr sz="2000"/>
            </a:lvl2pPr>
            <a:lvl3pPr>
              <a:buClr>
                <a:srgbClr val="008638"/>
              </a:buClr>
              <a:defRPr/>
            </a:lvl3pPr>
            <a:lvl4pPr>
              <a:buClr>
                <a:srgbClr val="008638"/>
              </a:buClr>
              <a:defRPr/>
            </a:lvl4pPr>
            <a:lvl5pPr>
              <a:buClr>
                <a:srgbClr val="008638"/>
              </a:buClr>
              <a:defRPr/>
            </a:lvl5pPr>
            <a:lvl6pPr>
              <a:buClr>
                <a:srgbClr val="008638"/>
              </a:buClr>
              <a:defRPr/>
            </a:lvl6pPr>
            <a:lvl7pPr>
              <a:buClr>
                <a:srgbClr val="008638"/>
              </a:buClr>
              <a:defRPr/>
            </a:lvl7pPr>
            <a:lvl8pPr>
              <a:buClr>
                <a:srgbClr val="008638"/>
              </a:buClr>
              <a:defRPr/>
            </a:lvl8pPr>
            <a:lvl9pPr>
              <a:buClr>
                <a:srgbClr val="008638"/>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125292" y="6172201"/>
            <a:ext cx="11460480" cy="235463"/>
          </a:xfrm>
        </p:spPr>
        <p:txBody>
          <a:bodyPr/>
          <a:lstStyle/>
          <a:p>
            <a:endParaRPr lang="en-US" dirty="0"/>
          </a:p>
        </p:txBody>
      </p:sp>
      <p:sp>
        <p:nvSpPr>
          <p:cNvPr id="9" name="Date Placeholder 3"/>
          <p:cNvSpPr>
            <a:spLocks noGrp="1"/>
          </p:cNvSpPr>
          <p:nvPr>
            <p:ph type="dt" sz="half" idx="10"/>
          </p:nvPr>
        </p:nvSpPr>
        <p:spPr>
          <a:xfrm>
            <a:off x="9183327" y="306812"/>
            <a:ext cx="2844800" cy="182880"/>
          </a:xfrm>
        </p:spPr>
        <p:txBody>
          <a:bodyPr/>
          <a:lstStyle/>
          <a:p>
            <a:fld id="{F92AC8AE-E686-4359-8C3E-F25C655BBD8E}" type="datetime12">
              <a:rPr lang="en-US" smtClean="0"/>
              <a:t>5:46 PM</a:t>
            </a:fld>
            <a:endParaRPr lang="en-US" dirty="0"/>
          </a:p>
        </p:txBody>
      </p:sp>
      <p:sp>
        <p:nvSpPr>
          <p:cNvPr id="10" name="Slide Number Placeholder 5"/>
          <p:cNvSpPr>
            <a:spLocks noGrp="1"/>
          </p:cNvSpPr>
          <p:nvPr>
            <p:ph type="sldNum" sz="quarter" idx="12"/>
          </p:nvPr>
        </p:nvSpPr>
        <p:spPr>
          <a:xfrm>
            <a:off x="11292417" y="113072"/>
            <a:ext cx="735711"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072158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125292" y="6172201"/>
            <a:ext cx="11460480" cy="235463"/>
          </a:xfrm>
        </p:spPr>
        <p:txBody>
          <a:bodyPr/>
          <a:lstStyle/>
          <a:p>
            <a:endParaRPr lang="en-US" dirty="0"/>
          </a:p>
        </p:txBody>
      </p:sp>
      <p:sp>
        <p:nvSpPr>
          <p:cNvPr id="4" name="Date Placeholder 3"/>
          <p:cNvSpPr>
            <a:spLocks noGrp="1"/>
          </p:cNvSpPr>
          <p:nvPr>
            <p:ph type="dt" sz="half" idx="10"/>
          </p:nvPr>
        </p:nvSpPr>
        <p:spPr/>
        <p:txBody>
          <a:bodyPr/>
          <a:lstStyle/>
          <a:p>
            <a:fld id="{B01F4EA1-B670-4AB6-BB74-53A52E7EA29E}" type="datetime12">
              <a:rPr lang="en-US" smtClean="0"/>
              <a:t>5:46 PM</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099928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609600" y="317634"/>
            <a:ext cx="109728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609600" y="5368160"/>
            <a:ext cx="109728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125292" y="6172201"/>
            <a:ext cx="1146048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444F8AC2-3384-4B62-A995-91484F21463B}" type="datetime12">
              <a:rPr lang="en-US" smtClean="0"/>
              <a:t>5:46 PM</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7213" y="6376790"/>
            <a:ext cx="1224000" cy="279915"/>
          </a:xfrm>
          <a:prstGeom prst="rect">
            <a:avLst/>
          </a:prstGeom>
        </p:spPr>
      </p:pic>
      <p:sp>
        <p:nvSpPr>
          <p:cNvPr id="9" name="TextBox 8"/>
          <p:cNvSpPr txBox="1"/>
          <p:nvPr userDrawn="1"/>
        </p:nvSpPr>
        <p:spPr>
          <a:xfrm>
            <a:off x="2133600" y="6429346"/>
            <a:ext cx="95504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IN" altLang="en-US" sz="700" b="1" dirty="0">
                <a:ea typeface="Verdana" panose="020B0604030504040204" pitchFamily="34" charset="0"/>
                <a:cs typeface="Verdana" panose="020B0604030504040204" pitchFamily="34" charset="0"/>
              </a:rPr>
              <a:t>Copyright © 2018 Pearson Education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51389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609600" y="1600201"/>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609600" y="3962401"/>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125292" y="6172201"/>
            <a:ext cx="11460480" cy="235463"/>
          </a:xfrm>
        </p:spPr>
        <p:txBody>
          <a:bodyPr/>
          <a:lstStyle/>
          <a:p>
            <a:endParaRPr lang="en-US" dirty="0"/>
          </a:p>
        </p:txBody>
      </p:sp>
      <p:sp>
        <p:nvSpPr>
          <p:cNvPr id="4" name="Date Placeholder 3"/>
          <p:cNvSpPr>
            <a:spLocks noGrp="1"/>
          </p:cNvSpPr>
          <p:nvPr>
            <p:ph type="dt" sz="half" idx="10"/>
          </p:nvPr>
        </p:nvSpPr>
        <p:spPr/>
        <p:txBody>
          <a:bodyPr/>
          <a:lstStyle/>
          <a:p>
            <a:fld id="{3DB3D0CA-FA2A-46EC-8D83-67C55B2258C4}" type="datetime12">
              <a:rPr lang="en-US" smtClean="0"/>
              <a:t>5:46 PM</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187485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1447801"/>
            <a:ext cx="103632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899583" y="3962400"/>
            <a:ext cx="10392836"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125292" y="6172201"/>
            <a:ext cx="11460480" cy="235463"/>
          </a:xfrm>
        </p:spPr>
        <p:txBody>
          <a:bodyPr/>
          <a:lstStyle/>
          <a:p>
            <a:endParaRPr lang="en-US" dirty="0"/>
          </a:p>
        </p:txBody>
      </p:sp>
      <p:sp>
        <p:nvSpPr>
          <p:cNvPr id="4" name="Date Placeholder 3"/>
          <p:cNvSpPr>
            <a:spLocks noGrp="1"/>
          </p:cNvSpPr>
          <p:nvPr>
            <p:ph type="dt" sz="half" idx="10"/>
          </p:nvPr>
        </p:nvSpPr>
        <p:spPr/>
        <p:txBody>
          <a:bodyPr/>
          <a:lstStyle/>
          <a:p>
            <a:fld id="{6BFEF524-1DA0-4F8A-851D-7EEE79E0D13C}" type="datetime12">
              <a:rPr lang="en-US" smtClean="0"/>
              <a:t>5:46 PM</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5142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125292" y="6172201"/>
            <a:ext cx="11460480" cy="235463"/>
          </a:xfrm>
        </p:spPr>
        <p:txBody>
          <a:bodyPr/>
          <a:lstStyle/>
          <a:p>
            <a:endParaRPr lang="en-US" dirty="0"/>
          </a:p>
        </p:txBody>
      </p:sp>
      <p:sp>
        <p:nvSpPr>
          <p:cNvPr id="3" name="Date Placeholder 2"/>
          <p:cNvSpPr>
            <a:spLocks noGrp="1"/>
          </p:cNvSpPr>
          <p:nvPr>
            <p:ph type="dt" sz="half" idx="10"/>
          </p:nvPr>
        </p:nvSpPr>
        <p:spPr/>
        <p:txBody>
          <a:bodyPr/>
          <a:lstStyle/>
          <a:p>
            <a:fld id="{41B1CCF3-CFD0-453A-894D-AC04DB6A8806}" type="datetime12">
              <a:rPr lang="en-US" smtClean="0"/>
              <a:t>5:46 PM</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8642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125292" y="6172201"/>
            <a:ext cx="1146048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8FAA9E0D-50A5-49C4-A647-FE3742067E98}" type="datetime12">
              <a:rPr lang="en-US" smtClean="0"/>
              <a:t>5:46 PM</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7213" y="6376790"/>
            <a:ext cx="1224000" cy="279915"/>
          </a:xfrm>
          <a:prstGeom prst="rect">
            <a:avLst/>
          </a:prstGeom>
        </p:spPr>
      </p:pic>
      <p:sp>
        <p:nvSpPr>
          <p:cNvPr id="10" name="TextBox 9"/>
          <p:cNvSpPr txBox="1"/>
          <p:nvPr userDrawn="1"/>
        </p:nvSpPr>
        <p:spPr>
          <a:xfrm>
            <a:off x="2133600" y="6429346"/>
            <a:ext cx="95504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IN" altLang="en-US" sz="700" b="1" dirty="0">
                <a:ea typeface="Verdana" panose="020B0604030504040204" pitchFamily="34" charset="0"/>
                <a:cs typeface="Verdana" panose="020B0604030504040204" pitchFamily="34" charset="0"/>
              </a:rPr>
              <a:t>Copyright © 2018 Pearson Education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31318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15372"/>
            <a:ext cx="109728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125292" y="6172201"/>
            <a:ext cx="1146048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183327" y="388480"/>
            <a:ext cx="2844800" cy="182880"/>
          </a:xfrm>
          <a:prstGeom prst="rect">
            <a:avLst/>
          </a:prstGeom>
        </p:spPr>
        <p:txBody>
          <a:bodyPr vert="horz" lIns="91440" tIns="45720" rIns="91440" bIns="45720" rtlCol="0" anchor="ctr"/>
          <a:lstStyle>
            <a:lvl1pPr algn="r">
              <a:defRPr sz="900">
                <a:solidFill>
                  <a:schemeClr val="tx1"/>
                </a:solidFill>
              </a:defRPr>
            </a:lvl1pPr>
          </a:lstStyle>
          <a:p>
            <a:fld id="{65D45312-C5B7-4E3B-AB27-BAD167A10F21}" type="datetime12">
              <a:rPr lang="en-US" smtClean="0"/>
              <a:pPr/>
              <a:t>5:46 PM</a:t>
            </a:fld>
            <a:endParaRPr lang="en-US" dirty="0"/>
          </a:p>
        </p:txBody>
      </p:sp>
      <p:sp>
        <p:nvSpPr>
          <p:cNvPr id="6" name="Slide Number Placeholder 5"/>
          <p:cNvSpPr>
            <a:spLocks noGrp="1"/>
          </p:cNvSpPr>
          <p:nvPr>
            <p:ph type="sldNum" sz="quarter" idx="4"/>
          </p:nvPr>
        </p:nvSpPr>
        <p:spPr>
          <a:xfrm>
            <a:off x="11292417" y="113072"/>
            <a:ext cx="735711" cy="182880"/>
          </a:xfrm>
          <a:prstGeom prst="rect">
            <a:avLst/>
          </a:prstGeom>
        </p:spPr>
        <p:txBody>
          <a:bodyPr vert="horz" lIns="91440" tIns="45720" rIns="91440" bIns="45720" rtlCol="0" anchor="ctr"/>
          <a:lstStyle>
            <a:lvl1pPr algn="r">
              <a:defRPr sz="900">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09600" y="6376790"/>
            <a:ext cx="1224000" cy="279915"/>
          </a:xfrm>
          <a:prstGeom prst="rect">
            <a:avLst/>
          </a:prstGeom>
        </p:spPr>
      </p:pic>
      <p:sp>
        <p:nvSpPr>
          <p:cNvPr id="8" name="TextBox 7"/>
          <p:cNvSpPr txBox="1"/>
          <p:nvPr userDrawn="1"/>
        </p:nvSpPr>
        <p:spPr>
          <a:xfrm>
            <a:off x="2133600" y="6429346"/>
            <a:ext cx="95504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IN" altLang="en-US" sz="700" b="1" dirty="0">
                <a:ea typeface="Verdana" panose="020B0604030504040204" pitchFamily="34" charset="0"/>
                <a:cs typeface="Verdana" panose="020B0604030504040204" pitchFamily="34" charset="0"/>
              </a:rPr>
              <a:t>Copyright © 2018 Pearson Education Ltd.</a:t>
            </a:r>
            <a:endParaRPr lang="en-US" altLang="en-US" sz="700" b="1"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2554566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Information Systems: Managing the Digital Firm</a:t>
            </a:r>
          </a:p>
        </p:txBody>
      </p:sp>
      <p:sp>
        <p:nvSpPr>
          <p:cNvPr id="3" name="Text Placeholder 2"/>
          <p:cNvSpPr>
            <a:spLocks noGrp="1"/>
          </p:cNvSpPr>
          <p:nvPr>
            <p:ph type="body" sz="quarter" idx="13"/>
          </p:nvPr>
        </p:nvSpPr>
        <p:spPr>
          <a:xfrm>
            <a:off x="1981200" y="1300845"/>
            <a:ext cx="8229600" cy="478970"/>
          </a:xfrm>
        </p:spPr>
        <p:txBody>
          <a:bodyPr/>
          <a:lstStyle/>
          <a:p>
            <a:r>
              <a:rPr lang="en-US" dirty="0"/>
              <a:t>Fifteenth edition</a:t>
            </a:r>
          </a:p>
        </p:txBody>
      </p:sp>
      <p:sp>
        <p:nvSpPr>
          <p:cNvPr id="4" name="Text Placeholder 3"/>
          <p:cNvSpPr>
            <a:spLocks noGrp="1"/>
          </p:cNvSpPr>
          <p:nvPr>
            <p:ph type="body" sz="quarter" idx="14"/>
          </p:nvPr>
        </p:nvSpPr>
        <p:spPr>
          <a:xfrm>
            <a:off x="6705600" y="1442360"/>
            <a:ext cx="4876800" cy="1600199"/>
          </a:xfrm>
        </p:spPr>
        <p:txBody>
          <a:bodyPr/>
          <a:lstStyle/>
          <a:p>
            <a:r>
              <a:rPr lang="en-US" b="1" dirty="0"/>
              <a:t>Lecture 3</a:t>
            </a:r>
          </a:p>
        </p:txBody>
      </p:sp>
      <p:sp>
        <p:nvSpPr>
          <p:cNvPr id="5" name="Text Placeholder 4"/>
          <p:cNvSpPr>
            <a:spLocks noGrp="1"/>
          </p:cNvSpPr>
          <p:nvPr>
            <p:ph type="body" sz="quarter" idx="15"/>
          </p:nvPr>
        </p:nvSpPr>
        <p:spPr/>
        <p:txBody>
          <a:bodyPr/>
          <a:lstStyle/>
          <a:p>
            <a:pPr algn="ctr"/>
            <a:r>
              <a:rPr lang="en-US" sz="2800" dirty="0"/>
              <a:t>Foundations of Business </a:t>
            </a:r>
          </a:p>
          <a:p>
            <a:pPr algn="ctr"/>
            <a:r>
              <a:rPr lang="en-US" sz="2800" dirty="0"/>
              <a:t>Intelligence: </a:t>
            </a:r>
          </a:p>
          <a:p>
            <a:pPr algn="ctr"/>
            <a:r>
              <a:rPr lang="en-US" sz="2800" b="1" dirty="0"/>
              <a:t>Databases and </a:t>
            </a:r>
          </a:p>
          <a:p>
            <a:pPr algn="ctr"/>
            <a:r>
              <a:rPr lang="en-US" sz="2800" b="1" dirty="0"/>
              <a:t>Information Management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43183" y="2057477"/>
            <a:ext cx="2921491" cy="376388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37321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File Organization Terms and Concepts</a:t>
            </a:r>
          </a:p>
        </p:txBody>
      </p:sp>
      <p:sp>
        <p:nvSpPr>
          <p:cNvPr id="3" name="Content Placeholder 2"/>
          <p:cNvSpPr>
            <a:spLocks noGrp="1"/>
          </p:cNvSpPr>
          <p:nvPr>
            <p:ph idx="1"/>
          </p:nvPr>
        </p:nvSpPr>
        <p:spPr>
          <a:xfrm>
            <a:off x="609600" y="1417169"/>
            <a:ext cx="9829800" cy="4525963"/>
          </a:xfrm>
        </p:spPr>
        <p:txBody>
          <a:bodyPr/>
          <a:lstStyle/>
          <a:p>
            <a:pPr>
              <a:lnSpc>
                <a:spcPct val="150000"/>
              </a:lnSpc>
            </a:pPr>
            <a:r>
              <a:rPr lang="en-US" b="1" dirty="0"/>
              <a:t>Database: </a:t>
            </a:r>
            <a:r>
              <a:rPr lang="en-US" dirty="0"/>
              <a:t>Group of related files</a:t>
            </a:r>
          </a:p>
          <a:p>
            <a:pPr>
              <a:lnSpc>
                <a:spcPct val="150000"/>
              </a:lnSpc>
            </a:pPr>
            <a:r>
              <a:rPr lang="en-US" b="1" dirty="0"/>
              <a:t>File: </a:t>
            </a:r>
            <a:r>
              <a:rPr lang="en-US" dirty="0"/>
              <a:t>Group of records of same type </a:t>
            </a:r>
          </a:p>
          <a:p>
            <a:pPr>
              <a:lnSpc>
                <a:spcPct val="150000"/>
              </a:lnSpc>
            </a:pPr>
            <a:r>
              <a:rPr lang="en-US" b="1" dirty="0"/>
              <a:t>Record: </a:t>
            </a:r>
            <a:r>
              <a:rPr lang="en-US" dirty="0"/>
              <a:t>Group of related fields</a:t>
            </a:r>
          </a:p>
          <a:p>
            <a:pPr>
              <a:lnSpc>
                <a:spcPct val="150000"/>
              </a:lnSpc>
            </a:pPr>
            <a:r>
              <a:rPr lang="en-US" b="1" dirty="0"/>
              <a:t>Field: </a:t>
            </a:r>
            <a:r>
              <a:rPr lang="en-US" dirty="0"/>
              <a:t>Group of characters as word(s) or number(s)</a:t>
            </a:r>
          </a:p>
          <a:p>
            <a:pPr>
              <a:lnSpc>
                <a:spcPct val="150000"/>
              </a:lnSpc>
            </a:pPr>
            <a:r>
              <a:rPr lang="en-US" b="1" dirty="0">
                <a:solidFill>
                  <a:srgbClr val="FF0000"/>
                </a:solidFill>
              </a:rPr>
              <a:t>Entity: </a:t>
            </a:r>
            <a:r>
              <a:rPr lang="en-US" dirty="0">
                <a:solidFill>
                  <a:srgbClr val="007FA3"/>
                </a:solidFill>
              </a:rPr>
              <a:t>Person, place, thing on which we store information</a:t>
            </a:r>
          </a:p>
          <a:p>
            <a:pPr>
              <a:lnSpc>
                <a:spcPct val="150000"/>
              </a:lnSpc>
            </a:pPr>
            <a:r>
              <a:rPr lang="en-US" b="1" dirty="0">
                <a:solidFill>
                  <a:srgbClr val="FF0000"/>
                </a:solidFill>
              </a:rPr>
              <a:t>Attribute: </a:t>
            </a:r>
            <a:r>
              <a:rPr lang="en-US" dirty="0">
                <a:solidFill>
                  <a:srgbClr val="007FA3"/>
                </a:solidFill>
              </a:rPr>
              <a:t>Each characteristic or quality describing entity</a:t>
            </a:r>
          </a:p>
        </p:txBody>
      </p:sp>
      <p:sp>
        <p:nvSpPr>
          <p:cNvPr id="4" name="Date Placeholder 3">
            <a:extLst>
              <a:ext uri="{FF2B5EF4-FFF2-40B4-BE49-F238E27FC236}">
                <a16:creationId xmlns:a16="http://schemas.microsoft.com/office/drawing/2014/main" id="{0DAC6F4F-DE0B-83C3-FD83-6A9059CF2330}"/>
              </a:ext>
            </a:extLst>
          </p:cNvPr>
          <p:cNvSpPr>
            <a:spLocks noGrp="1"/>
          </p:cNvSpPr>
          <p:nvPr>
            <p:ph type="dt" sz="half" idx="10"/>
          </p:nvPr>
        </p:nvSpPr>
        <p:spPr/>
        <p:txBody>
          <a:bodyPr/>
          <a:lstStyle/>
          <a:p>
            <a:fld id="{7005CC33-5C74-4F13-9D50-280DEFB94CC4}"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979569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The Data structure</a:t>
            </a:r>
          </a:p>
        </p:txBody>
      </p:sp>
      <p:pic>
        <p:nvPicPr>
          <p:cNvPr id="3" name="Picture 2" descr="Figure 6.1 illustrates the data hierarchy."/>
          <p:cNvPicPr>
            <a:picLocks noChangeAspect="1"/>
          </p:cNvPicPr>
          <p:nvPr/>
        </p:nvPicPr>
        <p:blipFill>
          <a:blip r:embed="rId3">
            <a:extLst>
              <a:ext uri="{28A0092B-C50C-407E-A947-70E740481C1C}">
                <a14:useLocalDpi xmlns:a14="http://schemas.microsoft.com/office/drawing/2010/main" val="0"/>
              </a:ext>
            </a:extLst>
          </a:blip>
          <a:srcRect b="18689"/>
          <a:stretch>
            <a:fillRect/>
          </a:stretch>
        </p:blipFill>
        <p:spPr>
          <a:xfrm>
            <a:off x="3482276" y="1138369"/>
            <a:ext cx="5443360" cy="5047479"/>
          </a:xfrm>
          <a:prstGeom prst="rect">
            <a:avLst/>
          </a:prstGeom>
        </p:spPr>
      </p:pic>
      <p:sp>
        <p:nvSpPr>
          <p:cNvPr id="4" name="Date Placeholder 3">
            <a:extLst>
              <a:ext uri="{FF2B5EF4-FFF2-40B4-BE49-F238E27FC236}">
                <a16:creationId xmlns:a16="http://schemas.microsoft.com/office/drawing/2014/main" id="{AA86E125-879D-DE9A-BD7D-1ACCD02D86F3}"/>
              </a:ext>
            </a:extLst>
          </p:cNvPr>
          <p:cNvSpPr>
            <a:spLocks noGrp="1"/>
          </p:cNvSpPr>
          <p:nvPr>
            <p:ph type="dt" sz="half" idx="10"/>
          </p:nvPr>
        </p:nvSpPr>
        <p:spPr/>
        <p:txBody>
          <a:bodyPr/>
          <a:lstStyle/>
          <a:p>
            <a:fld id="{B6762D4B-EDD8-4D81-B1C2-618340D60232}" type="datetime12">
              <a:rPr lang="en-US">
                <a:solidFill>
                  <a:prstClr val="black"/>
                </a:solidFill>
                <a:latin typeface="Arial"/>
              </a:rPr>
              <a:pPr/>
              <a:t>5:46 PM</a:t>
            </a:fld>
            <a:endParaRPr lang="en-US" dirty="0">
              <a:solidFill>
                <a:prstClr val="black"/>
              </a:solidFill>
              <a:latin typeface="Arial"/>
            </a:endParaRPr>
          </a:p>
        </p:txBody>
      </p:sp>
      <p:sp>
        <p:nvSpPr>
          <p:cNvPr id="5" name="Rectangle 4">
            <a:extLst>
              <a:ext uri="{FF2B5EF4-FFF2-40B4-BE49-F238E27FC236}">
                <a16:creationId xmlns:a16="http://schemas.microsoft.com/office/drawing/2014/main" id="{CE94C7D6-BE24-A0EE-A878-8C68A5123A79}"/>
              </a:ext>
            </a:extLst>
          </p:cNvPr>
          <p:cNvSpPr/>
          <p:nvPr/>
        </p:nvSpPr>
        <p:spPr>
          <a:xfrm>
            <a:off x="3330054" y="1078173"/>
            <a:ext cx="5718412" cy="20744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cxnSp>
        <p:nvCxnSpPr>
          <p:cNvPr id="7" name="Straight Arrow Connector 6">
            <a:extLst>
              <a:ext uri="{FF2B5EF4-FFF2-40B4-BE49-F238E27FC236}">
                <a16:creationId xmlns:a16="http://schemas.microsoft.com/office/drawing/2014/main" id="{FF5381F3-9FF7-EA50-ACEB-161F4DFD83A1}"/>
              </a:ext>
            </a:extLst>
          </p:cNvPr>
          <p:cNvCxnSpPr/>
          <p:nvPr/>
        </p:nvCxnSpPr>
        <p:spPr>
          <a:xfrm flipH="1">
            <a:off x="4353636" y="2210937"/>
            <a:ext cx="1282889" cy="12180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04BCB2F-B6A7-FE4A-0EC2-A1AFA0247E83}"/>
              </a:ext>
            </a:extLst>
          </p:cNvPr>
          <p:cNvSpPr/>
          <p:nvPr/>
        </p:nvSpPr>
        <p:spPr>
          <a:xfrm>
            <a:off x="3330054" y="3218273"/>
            <a:ext cx="5718412" cy="15447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cxnSp>
        <p:nvCxnSpPr>
          <p:cNvPr id="9" name="Straight Arrow Connector 8">
            <a:extLst>
              <a:ext uri="{FF2B5EF4-FFF2-40B4-BE49-F238E27FC236}">
                <a16:creationId xmlns:a16="http://schemas.microsoft.com/office/drawing/2014/main" id="{227612C1-32EA-0472-369E-4D0AF665F293}"/>
              </a:ext>
            </a:extLst>
          </p:cNvPr>
          <p:cNvCxnSpPr>
            <a:cxnSpLocks/>
          </p:cNvCxnSpPr>
          <p:nvPr/>
        </p:nvCxnSpPr>
        <p:spPr>
          <a:xfrm flipH="1">
            <a:off x="4449170" y="4121625"/>
            <a:ext cx="1187355" cy="8461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6BF6D8B-D9B7-59F2-0FB3-CA52B01F086E}"/>
              </a:ext>
            </a:extLst>
          </p:cNvPr>
          <p:cNvSpPr/>
          <p:nvPr/>
        </p:nvSpPr>
        <p:spPr>
          <a:xfrm>
            <a:off x="5636525" y="3869141"/>
            <a:ext cx="2552132" cy="252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cxnSp>
        <p:nvCxnSpPr>
          <p:cNvPr id="14" name="Straight Arrow Connector 13">
            <a:extLst>
              <a:ext uri="{FF2B5EF4-FFF2-40B4-BE49-F238E27FC236}">
                <a16:creationId xmlns:a16="http://schemas.microsoft.com/office/drawing/2014/main" id="{FBFBBD76-7FF3-E9D8-28D4-CCFB0408033B}"/>
              </a:ext>
            </a:extLst>
          </p:cNvPr>
          <p:cNvCxnSpPr>
            <a:cxnSpLocks/>
          </p:cNvCxnSpPr>
          <p:nvPr/>
        </p:nvCxnSpPr>
        <p:spPr>
          <a:xfrm flipH="1">
            <a:off x="4995080" y="5350775"/>
            <a:ext cx="1595171" cy="6320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999D2DD-C203-46F1-DD7A-95DC27A027D5}"/>
              </a:ext>
            </a:extLst>
          </p:cNvPr>
          <p:cNvSpPr/>
          <p:nvPr/>
        </p:nvSpPr>
        <p:spPr>
          <a:xfrm>
            <a:off x="6590251" y="5254387"/>
            <a:ext cx="561175" cy="1927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sp>
        <p:nvSpPr>
          <p:cNvPr id="18" name="Rectangle 17">
            <a:extLst>
              <a:ext uri="{FF2B5EF4-FFF2-40B4-BE49-F238E27FC236}">
                <a16:creationId xmlns:a16="http://schemas.microsoft.com/office/drawing/2014/main" id="{BEEDBC01-B84B-B744-E0DC-6993CB9EC9D7}"/>
              </a:ext>
            </a:extLst>
          </p:cNvPr>
          <p:cNvSpPr/>
          <p:nvPr/>
        </p:nvSpPr>
        <p:spPr>
          <a:xfrm>
            <a:off x="3304855" y="4861123"/>
            <a:ext cx="5718412" cy="6943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sp>
        <p:nvSpPr>
          <p:cNvPr id="20" name="Rectangle 19">
            <a:extLst>
              <a:ext uri="{FF2B5EF4-FFF2-40B4-BE49-F238E27FC236}">
                <a16:creationId xmlns:a16="http://schemas.microsoft.com/office/drawing/2014/main" id="{96C9A0C6-CDE4-CDA2-046F-E5894566BF42}"/>
              </a:ext>
            </a:extLst>
          </p:cNvPr>
          <p:cNvSpPr/>
          <p:nvPr/>
        </p:nvSpPr>
        <p:spPr>
          <a:xfrm>
            <a:off x="3289591" y="5616016"/>
            <a:ext cx="5718412" cy="69436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spTree>
    <p:extLst>
      <p:ext uri="{BB962C8B-B14F-4D97-AF65-F5344CB8AC3E}">
        <p14:creationId xmlns:p14="http://schemas.microsoft.com/office/powerpoint/2010/main" val="155554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2" grpId="0" animBg="1"/>
      <p:bldP spid="15" grpId="0" animBg="1"/>
      <p:bldP spid="18"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Problems with the Traditional File Environment</a:t>
            </a:r>
          </a:p>
        </p:txBody>
      </p:sp>
      <p:sp>
        <p:nvSpPr>
          <p:cNvPr id="3" name="Content Placeholder 2"/>
          <p:cNvSpPr>
            <a:spLocks noGrp="1"/>
          </p:cNvSpPr>
          <p:nvPr>
            <p:ph idx="1"/>
          </p:nvPr>
        </p:nvSpPr>
        <p:spPr>
          <a:xfrm>
            <a:off x="609600" y="1417169"/>
            <a:ext cx="10972800" cy="4515728"/>
          </a:xfrm>
        </p:spPr>
        <p:txBody>
          <a:bodyPr/>
          <a:lstStyle/>
          <a:p>
            <a:pPr>
              <a:lnSpc>
                <a:spcPct val="150000"/>
              </a:lnSpc>
            </a:pPr>
            <a:r>
              <a:rPr lang="en-US" dirty="0"/>
              <a:t>Files maintained individually by different departments</a:t>
            </a:r>
          </a:p>
          <a:p>
            <a:pPr>
              <a:lnSpc>
                <a:spcPct val="150000"/>
              </a:lnSpc>
            </a:pPr>
            <a:r>
              <a:rPr lang="en-US" dirty="0"/>
              <a:t>Data redundancy </a:t>
            </a:r>
          </a:p>
          <a:p>
            <a:pPr>
              <a:lnSpc>
                <a:spcPct val="150000"/>
              </a:lnSpc>
            </a:pPr>
            <a:r>
              <a:rPr lang="en-US" dirty="0"/>
              <a:t>Data conflict </a:t>
            </a:r>
          </a:p>
          <a:p>
            <a:pPr>
              <a:lnSpc>
                <a:spcPct val="150000"/>
              </a:lnSpc>
            </a:pPr>
            <a:r>
              <a:rPr lang="en-US" dirty="0"/>
              <a:t>Lack of flexibility</a:t>
            </a:r>
          </a:p>
          <a:p>
            <a:pPr>
              <a:lnSpc>
                <a:spcPct val="150000"/>
              </a:lnSpc>
            </a:pPr>
            <a:r>
              <a:rPr lang="en-US" dirty="0"/>
              <a:t>Poor security</a:t>
            </a:r>
          </a:p>
          <a:p>
            <a:pPr>
              <a:lnSpc>
                <a:spcPct val="150000"/>
              </a:lnSpc>
            </a:pPr>
            <a:r>
              <a:rPr lang="en-US" dirty="0"/>
              <a:t>Lack of data sharing and availability</a:t>
            </a:r>
          </a:p>
        </p:txBody>
      </p:sp>
      <p:sp>
        <p:nvSpPr>
          <p:cNvPr id="4" name="Date Placeholder 3">
            <a:extLst>
              <a:ext uri="{FF2B5EF4-FFF2-40B4-BE49-F238E27FC236}">
                <a16:creationId xmlns:a16="http://schemas.microsoft.com/office/drawing/2014/main" id="{24FBCBAC-AD5C-6AA7-105C-63272690AC5F}"/>
              </a:ext>
            </a:extLst>
          </p:cNvPr>
          <p:cNvSpPr>
            <a:spLocks noGrp="1"/>
          </p:cNvSpPr>
          <p:nvPr>
            <p:ph type="dt" sz="half" idx="10"/>
          </p:nvPr>
        </p:nvSpPr>
        <p:spPr/>
        <p:txBody>
          <a:bodyPr/>
          <a:lstStyle/>
          <a:p>
            <a:fld id="{65EE2D41-C49E-4263-AF98-5D136F9D4F4F}"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98594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Traditional File Processing</a:t>
            </a:r>
          </a:p>
        </p:txBody>
      </p:sp>
      <p:pic>
        <p:nvPicPr>
          <p:cNvPr id="3" name="Picture 2" descr="Figure 6.2 illustrates traditional file process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1797" y="958647"/>
            <a:ext cx="8234149" cy="5417770"/>
          </a:xfrm>
          <a:prstGeom prst="rect">
            <a:avLst/>
          </a:prstGeom>
        </p:spPr>
      </p:pic>
    </p:spTree>
    <p:extLst>
      <p:ext uri="{BB962C8B-B14F-4D97-AF65-F5344CB8AC3E}">
        <p14:creationId xmlns:p14="http://schemas.microsoft.com/office/powerpoint/2010/main" val="80908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5372"/>
            <a:ext cx="10972800" cy="671732"/>
          </a:xfrm>
        </p:spPr>
        <p:txBody>
          <a:bodyPr/>
          <a:lstStyle/>
          <a:p>
            <a:r>
              <a:rPr lang="en-US" dirty="0">
                <a:solidFill>
                  <a:srgbClr val="FF0000"/>
                </a:solidFill>
              </a:rPr>
              <a:t>Database Management Systems (DBMS)</a:t>
            </a:r>
          </a:p>
        </p:txBody>
      </p:sp>
      <p:sp>
        <p:nvSpPr>
          <p:cNvPr id="3" name="Content Placeholder 2"/>
          <p:cNvSpPr>
            <a:spLocks noGrp="1"/>
          </p:cNvSpPr>
          <p:nvPr>
            <p:ph idx="1"/>
          </p:nvPr>
        </p:nvSpPr>
        <p:spPr>
          <a:xfrm>
            <a:off x="609599" y="1132765"/>
            <a:ext cx="10404143" cy="5405348"/>
          </a:xfrm>
        </p:spPr>
        <p:txBody>
          <a:bodyPr/>
          <a:lstStyle/>
          <a:p>
            <a:pPr algn="just">
              <a:lnSpc>
                <a:spcPct val="150000"/>
              </a:lnSpc>
              <a:buFont typeface="Arial" charset="0"/>
              <a:buChar char="•"/>
              <a:defRPr/>
            </a:pPr>
            <a:r>
              <a:rPr lang="en-US" b="1" dirty="0">
                <a:solidFill>
                  <a:srgbClr val="007FA3"/>
                </a:solidFill>
                <a:latin typeface="Calibri" panose="020F0502020204030204" pitchFamily="34" charset="0"/>
                <a:cs typeface="Calibri" panose="020F0502020204030204" pitchFamily="34" charset="0"/>
              </a:rPr>
              <a:t>Database</a:t>
            </a:r>
            <a:endParaRPr lang="en-US" sz="2400" b="1" dirty="0">
              <a:solidFill>
                <a:srgbClr val="007FA3"/>
              </a:solidFill>
              <a:latin typeface="Calibri" panose="020F0502020204030204" pitchFamily="34" charset="0"/>
              <a:cs typeface="Calibri" panose="020F0502020204030204" pitchFamily="34" charset="0"/>
            </a:endParaRPr>
          </a:p>
          <a:p>
            <a:pPr lvl="1" algn="just">
              <a:lnSpc>
                <a:spcPct val="150000"/>
              </a:lnSpc>
              <a:buFont typeface="Arial" charset="0"/>
              <a:buChar char="–"/>
              <a:defRPr/>
            </a:pPr>
            <a:r>
              <a:rPr lang="en-US" sz="2200" dirty="0">
                <a:latin typeface="Calibri" panose="020F0502020204030204" pitchFamily="34" charset="0"/>
                <a:cs typeface="Calibri" panose="020F0502020204030204" pitchFamily="34" charset="0"/>
              </a:rPr>
              <a:t>Supports multiple applications by </a:t>
            </a:r>
            <a:r>
              <a:rPr lang="en-US" sz="2200" b="1" dirty="0">
                <a:latin typeface="Calibri" panose="020F0502020204030204" pitchFamily="34" charset="0"/>
                <a:cs typeface="Calibri" panose="020F0502020204030204" pitchFamily="34" charset="0"/>
              </a:rPr>
              <a:t>centralizing</a:t>
            </a:r>
            <a:r>
              <a:rPr lang="en-US" sz="2200" dirty="0">
                <a:latin typeface="Calibri" panose="020F0502020204030204" pitchFamily="34" charset="0"/>
                <a:cs typeface="Calibri" panose="020F0502020204030204" pitchFamily="34" charset="0"/>
              </a:rPr>
              <a:t> </a:t>
            </a:r>
            <a:r>
              <a:rPr lang="en-US" sz="2200" b="1" dirty="0">
                <a:latin typeface="Calibri" panose="020F0502020204030204" pitchFamily="34" charset="0"/>
                <a:cs typeface="Calibri" panose="020F0502020204030204" pitchFamily="34" charset="0"/>
              </a:rPr>
              <a:t>information</a:t>
            </a:r>
            <a:r>
              <a:rPr lang="en-US" sz="2200" dirty="0">
                <a:latin typeface="Calibri" panose="020F0502020204030204" pitchFamily="34" charset="0"/>
                <a:cs typeface="Calibri" panose="020F0502020204030204" pitchFamily="34" charset="0"/>
              </a:rPr>
              <a:t> and </a:t>
            </a:r>
            <a:r>
              <a:rPr lang="en-US" sz="2200" b="1" dirty="0">
                <a:latin typeface="Calibri" panose="020F0502020204030204" pitchFamily="34" charset="0"/>
                <a:cs typeface="Calibri" panose="020F0502020204030204" pitchFamily="34" charset="0"/>
              </a:rPr>
              <a:t>minimizing</a:t>
            </a:r>
            <a:r>
              <a:rPr lang="en-US" sz="2200" dirty="0">
                <a:latin typeface="Calibri" panose="020F0502020204030204" pitchFamily="34" charset="0"/>
                <a:cs typeface="Calibri" panose="020F0502020204030204" pitchFamily="34" charset="0"/>
              </a:rPr>
              <a:t> data </a:t>
            </a:r>
            <a:r>
              <a:rPr lang="en-US" sz="2200" b="1" dirty="0">
                <a:latin typeface="Calibri" panose="020F0502020204030204" pitchFamily="34" charset="0"/>
                <a:cs typeface="Calibri" panose="020F0502020204030204" pitchFamily="34" charset="0"/>
              </a:rPr>
              <a:t>redundancy</a:t>
            </a:r>
            <a:r>
              <a:rPr lang="en-US" sz="2200" dirty="0">
                <a:latin typeface="Calibri" panose="020F0502020204030204" pitchFamily="34" charset="0"/>
                <a:cs typeface="Calibri" panose="020F0502020204030204" pitchFamily="34" charset="0"/>
              </a:rPr>
              <a:t>.</a:t>
            </a:r>
          </a:p>
          <a:p>
            <a:pPr marL="256032" lvl="1" indent="-256032" algn="just">
              <a:lnSpc>
                <a:spcPct val="150000"/>
              </a:lnSpc>
              <a:spcBef>
                <a:spcPts val="1500"/>
              </a:spcBef>
              <a:buSzPct val="100000"/>
              <a:buFont typeface="Arial" charset="0"/>
              <a:buChar char="•"/>
              <a:defRPr/>
            </a:pPr>
            <a:r>
              <a:rPr lang="en-US" sz="2800" b="1" dirty="0">
                <a:solidFill>
                  <a:srgbClr val="007FA3"/>
                </a:solidFill>
                <a:latin typeface="Calibri" panose="020F0502020204030204" pitchFamily="34" charset="0"/>
                <a:cs typeface="Calibri" panose="020F0502020204030204" pitchFamily="34" charset="0"/>
              </a:rPr>
              <a:t>Database management system (DBMS)</a:t>
            </a:r>
          </a:p>
          <a:p>
            <a:pPr marL="772668" lvl="1" algn="just" eaLnBrk="0" fontAlgn="base" hangingPunct="0">
              <a:lnSpc>
                <a:spcPct val="150000"/>
              </a:lnSpc>
              <a:spcBef>
                <a:spcPct val="0"/>
              </a:spcBef>
              <a:spcAft>
                <a:spcPct val="0"/>
              </a:spcAft>
              <a:buClrTx/>
              <a:buFont typeface="Courier New" panose="02070309020205020404" pitchFamily="49" charset="0"/>
              <a:buChar char="o"/>
            </a:pPr>
            <a:r>
              <a:rPr lang="en-SA" altLang="en-SA" sz="2200" dirty="0">
                <a:latin typeface="Calibri" panose="020F0502020204030204" pitchFamily="34" charset="0"/>
                <a:cs typeface="Calibri" panose="020F0502020204030204" pitchFamily="34" charset="0"/>
              </a:rPr>
              <a:t>Acts as an interface between applications and physical data files</a:t>
            </a:r>
          </a:p>
          <a:p>
            <a:pPr marL="772668" lvl="1" algn="just" eaLnBrk="0" fontAlgn="base" hangingPunct="0">
              <a:lnSpc>
                <a:spcPct val="150000"/>
              </a:lnSpc>
              <a:spcBef>
                <a:spcPct val="0"/>
              </a:spcBef>
              <a:spcAft>
                <a:spcPct val="0"/>
              </a:spcAft>
              <a:buClrTx/>
              <a:buFont typeface="Courier New" panose="02070309020205020404" pitchFamily="49" charset="0"/>
              <a:buChar char="o"/>
            </a:pPr>
            <a:r>
              <a:rPr lang="en-SA" altLang="en-SA" sz="2200" dirty="0">
                <a:latin typeface="Calibri" panose="020F0502020204030204" pitchFamily="34" charset="0"/>
                <a:cs typeface="Calibri" panose="020F0502020204030204" pitchFamily="34" charset="0"/>
              </a:rPr>
              <a:t>Addresses limitations of traditional file-based systems</a:t>
            </a:r>
          </a:p>
          <a:p>
            <a:pPr marL="772668" lvl="1" algn="just" eaLnBrk="0" fontAlgn="base" hangingPunct="0">
              <a:lnSpc>
                <a:spcPct val="150000"/>
              </a:lnSpc>
              <a:spcBef>
                <a:spcPct val="0"/>
              </a:spcBef>
              <a:spcAft>
                <a:spcPct val="0"/>
              </a:spcAft>
              <a:buClrTx/>
              <a:buFont typeface="Courier New" panose="02070309020205020404" pitchFamily="49" charset="0"/>
              <a:buChar char="o"/>
            </a:pPr>
            <a:r>
              <a:rPr lang="en-SA" altLang="en-SA" sz="2200" dirty="0">
                <a:latin typeface="Calibri" panose="020F0502020204030204" pitchFamily="34" charset="0"/>
                <a:cs typeface="Calibri" panose="020F0502020204030204" pitchFamily="34" charset="0"/>
              </a:rPr>
              <a:t>Minimizes data redundancy</a:t>
            </a:r>
          </a:p>
          <a:p>
            <a:pPr marL="772668" lvl="1" algn="just" eaLnBrk="0" fontAlgn="base" hangingPunct="0">
              <a:lnSpc>
                <a:spcPct val="150000"/>
              </a:lnSpc>
              <a:spcBef>
                <a:spcPct val="0"/>
              </a:spcBef>
              <a:spcAft>
                <a:spcPct val="0"/>
              </a:spcAft>
              <a:buClrTx/>
              <a:buFont typeface="Courier New" panose="02070309020205020404" pitchFamily="49" charset="0"/>
              <a:buChar char="o"/>
            </a:pPr>
            <a:r>
              <a:rPr lang="en-SA" altLang="en-SA" sz="2200" dirty="0">
                <a:latin typeface="Calibri" panose="020F0502020204030204" pitchFamily="34" charset="0"/>
                <a:cs typeface="Calibri" panose="020F0502020204030204" pitchFamily="34" charset="0"/>
              </a:rPr>
              <a:t>Prevents data inconsistency</a:t>
            </a:r>
          </a:p>
          <a:p>
            <a:pPr marL="772668" lvl="1" algn="just" eaLnBrk="0" fontAlgn="base" hangingPunct="0">
              <a:lnSpc>
                <a:spcPct val="150000"/>
              </a:lnSpc>
              <a:spcBef>
                <a:spcPct val="0"/>
              </a:spcBef>
              <a:spcAft>
                <a:spcPct val="0"/>
              </a:spcAft>
              <a:buClrTx/>
              <a:buFont typeface="Courier New" panose="02070309020205020404" pitchFamily="49" charset="0"/>
              <a:buChar char="o"/>
            </a:pPr>
            <a:r>
              <a:rPr lang="en-SA" altLang="en-SA" sz="2200" dirty="0">
                <a:latin typeface="Calibri" panose="020F0502020204030204" pitchFamily="34" charset="0"/>
                <a:cs typeface="Calibri" panose="020F0502020204030204" pitchFamily="34" charset="0"/>
              </a:rPr>
              <a:t>Allows centralized management of data and security</a:t>
            </a:r>
          </a:p>
          <a:p>
            <a:pPr marL="256032" lvl="1" indent="-256032" algn="just">
              <a:lnSpc>
                <a:spcPct val="150000"/>
              </a:lnSpc>
              <a:spcBef>
                <a:spcPts val="1500"/>
              </a:spcBef>
              <a:buSzPct val="100000"/>
              <a:buFont typeface="Arial" charset="0"/>
              <a:buChar char="•"/>
              <a:defRPr/>
            </a:pPr>
            <a:endParaRPr lang="en-US" sz="2800" b="1" dirty="0">
              <a:solidFill>
                <a:srgbClr val="007FA3"/>
              </a:solidFill>
            </a:endParaRPr>
          </a:p>
        </p:txBody>
      </p:sp>
    </p:spTree>
    <p:extLst>
      <p:ext uri="{BB962C8B-B14F-4D97-AF65-F5344CB8AC3E}">
        <p14:creationId xmlns:p14="http://schemas.microsoft.com/office/powerpoint/2010/main" val="374092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Human Resources Database with Multiple Views</a:t>
            </a:r>
          </a:p>
        </p:txBody>
      </p:sp>
      <p:pic>
        <p:nvPicPr>
          <p:cNvPr id="3" name="Picture 2" descr="Figure 6.3 illustrates a human resources database with multiple view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384434"/>
            <a:ext cx="9557982" cy="2971800"/>
          </a:xfrm>
          <a:prstGeom prst="rect">
            <a:avLst/>
          </a:prstGeom>
        </p:spPr>
      </p:pic>
      <p:sp>
        <p:nvSpPr>
          <p:cNvPr id="6" name="TextBox 5">
            <a:extLst>
              <a:ext uri="{FF2B5EF4-FFF2-40B4-BE49-F238E27FC236}">
                <a16:creationId xmlns:a16="http://schemas.microsoft.com/office/drawing/2014/main" id="{AE0D5D72-1453-4CAA-B6AD-80E0D3096127}"/>
              </a:ext>
            </a:extLst>
          </p:cNvPr>
          <p:cNvSpPr txBox="1"/>
          <p:nvPr/>
        </p:nvSpPr>
        <p:spPr>
          <a:xfrm>
            <a:off x="436728" y="4487516"/>
            <a:ext cx="11145671" cy="25339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solidFill>
                  <a:prstClr val="black"/>
                </a:solidFill>
                <a:latin typeface="Arial"/>
              </a:rPr>
              <a:t>A single HR database provides many different views of data, depending on the information requirements of the user.</a:t>
            </a:r>
          </a:p>
          <a:p>
            <a:pPr marL="285750" indent="-285750">
              <a:lnSpc>
                <a:spcPct val="150000"/>
              </a:lnSpc>
              <a:buFont typeface="Arial" panose="020B0604020202020204" pitchFamily="34" charset="0"/>
              <a:buChar char="•"/>
            </a:pPr>
            <a:r>
              <a:rPr lang="en-US" dirty="0">
                <a:solidFill>
                  <a:prstClr val="black"/>
                </a:solidFill>
                <a:latin typeface="Arial"/>
              </a:rPr>
              <a:t>One of interest to an </a:t>
            </a:r>
            <a:r>
              <a:rPr lang="en-US" b="1" dirty="0">
                <a:solidFill>
                  <a:srgbClr val="007FA3"/>
                </a:solidFill>
                <a:latin typeface="Arial"/>
              </a:rPr>
              <a:t>employee</a:t>
            </a:r>
            <a:r>
              <a:rPr lang="en-US" dirty="0">
                <a:solidFill>
                  <a:prstClr val="black"/>
                </a:solidFill>
                <a:latin typeface="Arial"/>
              </a:rPr>
              <a:t> </a:t>
            </a:r>
            <a:r>
              <a:rPr lang="en-US" b="1" dirty="0">
                <a:solidFill>
                  <a:srgbClr val="007FA3"/>
                </a:solidFill>
                <a:latin typeface="Arial"/>
              </a:rPr>
              <a:t>benefits </a:t>
            </a:r>
            <a:r>
              <a:rPr lang="en-US" dirty="0">
                <a:solidFill>
                  <a:prstClr val="black"/>
                </a:solidFill>
                <a:latin typeface="Arial"/>
              </a:rPr>
              <a:t>and one of interest to </a:t>
            </a:r>
            <a:r>
              <a:rPr lang="en-US" b="1" dirty="0">
                <a:solidFill>
                  <a:srgbClr val="007FA3"/>
                </a:solidFill>
                <a:latin typeface="Arial"/>
              </a:rPr>
              <a:t>a member of the company’s payroll department.</a:t>
            </a:r>
            <a:endParaRPr lang="en-SA" b="1" dirty="0">
              <a:solidFill>
                <a:srgbClr val="007FA3"/>
              </a:solidFill>
              <a:latin typeface="Arial"/>
            </a:endParaRPr>
          </a:p>
          <a:p>
            <a:pPr marL="285750" indent="-285750">
              <a:lnSpc>
                <a:spcPct val="150000"/>
              </a:lnSpc>
              <a:buFont typeface="Arial" panose="020B0604020202020204" pitchFamily="34" charset="0"/>
              <a:buChar char="•"/>
            </a:pPr>
            <a:endParaRPr lang="en-US" dirty="0">
              <a:solidFill>
                <a:prstClr val="black"/>
              </a:solidFill>
              <a:latin typeface="Arial"/>
            </a:endParaRPr>
          </a:p>
          <a:p>
            <a:pPr marL="285750" indent="-285750">
              <a:lnSpc>
                <a:spcPct val="150000"/>
              </a:lnSpc>
              <a:buFont typeface="Arial" panose="020B0604020202020204" pitchFamily="34" charset="0"/>
              <a:buChar char="•"/>
            </a:pPr>
            <a:endParaRPr lang="en-SA" dirty="0">
              <a:solidFill>
                <a:prstClr val="black"/>
              </a:solidFill>
              <a:latin typeface="Arial"/>
            </a:endParaRPr>
          </a:p>
        </p:txBody>
      </p:sp>
      <p:sp>
        <p:nvSpPr>
          <p:cNvPr id="4" name="Rectangle 3">
            <a:extLst>
              <a:ext uri="{FF2B5EF4-FFF2-40B4-BE49-F238E27FC236}">
                <a16:creationId xmlns:a16="http://schemas.microsoft.com/office/drawing/2014/main" id="{0FF502FA-BC95-07CF-0506-10E1CF4E516B}"/>
              </a:ext>
            </a:extLst>
          </p:cNvPr>
          <p:cNvSpPr/>
          <p:nvPr/>
        </p:nvSpPr>
        <p:spPr>
          <a:xfrm>
            <a:off x="7014949" y="1253152"/>
            <a:ext cx="3289111" cy="9577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sp>
        <p:nvSpPr>
          <p:cNvPr id="5" name="Rectangle 4">
            <a:extLst>
              <a:ext uri="{FF2B5EF4-FFF2-40B4-BE49-F238E27FC236}">
                <a16:creationId xmlns:a16="http://schemas.microsoft.com/office/drawing/2014/main" id="{F8D5B743-E313-576D-0CB5-8DB1CB976A07}"/>
              </a:ext>
            </a:extLst>
          </p:cNvPr>
          <p:cNvSpPr/>
          <p:nvPr/>
        </p:nvSpPr>
        <p:spPr>
          <a:xfrm>
            <a:off x="7153701" y="3429000"/>
            <a:ext cx="3289111" cy="9577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p>
        </p:txBody>
      </p:sp>
    </p:spTree>
    <p:extLst>
      <p:ext uri="{BB962C8B-B14F-4D97-AF65-F5344CB8AC3E}">
        <p14:creationId xmlns:p14="http://schemas.microsoft.com/office/powerpoint/2010/main" val="424027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Relational DBMS</a:t>
            </a:r>
          </a:p>
        </p:txBody>
      </p:sp>
      <p:sp>
        <p:nvSpPr>
          <p:cNvPr id="3" name="Content Placeholder 2"/>
          <p:cNvSpPr>
            <a:spLocks noGrp="1"/>
          </p:cNvSpPr>
          <p:nvPr>
            <p:ph idx="1"/>
          </p:nvPr>
        </p:nvSpPr>
        <p:spPr/>
        <p:txBody>
          <a:bodyPr/>
          <a:lstStyle/>
          <a:p>
            <a:pPr>
              <a:lnSpc>
                <a:spcPct val="150000"/>
              </a:lnSpc>
            </a:pPr>
            <a:r>
              <a:rPr lang="en-US" sz="2000" dirty="0"/>
              <a:t>Data is organized into </a:t>
            </a:r>
            <a:r>
              <a:rPr lang="en-US" sz="2000" b="1" dirty="0"/>
              <a:t>two-dimensional tables</a:t>
            </a:r>
            <a:r>
              <a:rPr lang="en-US" sz="2000" dirty="0"/>
              <a:t>.</a:t>
            </a:r>
          </a:p>
          <a:p>
            <a:pPr>
              <a:lnSpc>
                <a:spcPct val="150000"/>
              </a:lnSpc>
            </a:pPr>
            <a:r>
              <a:rPr lang="en-US" sz="2000" dirty="0"/>
              <a:t>Each table stores information about </a:t>
            </a:r>
            <a:r>
              <a:rPr lang="en-US" sz="2000" b="1" dirty="0"/>
              <a:t>entities and their attributes</a:t>
            </a:r>
            <a:r>
              <a:rPr lang="en-US" sz="2000" dirty="0"/>
              <a:t>.</a:t>
            </a:r>
          </a:p>
          <a:p>
            <a:pPr>
              <a:lnSpc>
                <a:spcPct val="150000"/>
              </a:lnSpc>
            </a:pPr>
            <a:r>
              <a:rPr lang="en-US" sz="2000" dirty="0"/>
              <a:t>A </a:t>
            </a:r>
            <a:r>
              <a:rPr lang="en-US" sz="2000" b="1" dirty="0"/>
              <a:t>table</a:t>
            </a:r>
            <a:r>
              <a:rPr lang="en-US" sz="2000" dirty="0"/>
              <a:t> is a grid made up of </a:t>
            </a:r>
            <a:r>
              <a:rPr lang="en-US" sz="2000" b="1" dirty="0"/>
              <a:t>columns and rows</a:t>
            </a:r>
            <a:r>
              <a:rPr lang="en-US" sz="2000" dirty="0"/>
              <a:t>.</a:t>
            </a:r>
          </a:p>
          <a:p>
            <a:pPr>
              <a:lnSpc>
                <a:spcPct val="150000"/>
              </a:lnSpc>
            </a:pPr>
            <a:r>
              <a:rPr lang="en-US" sz="2000" b="1" dirty="0"/>
              <a:t>Rows </a:t>
            </a:r>
            <a:r>
              <a:rPr lang="en-US" sz="2000" dirty="0"/>
              <a:t> represent individual records for different entities.</a:t>
            </a:r>
          </a:p>
          <a:p>
            <a:pPr>
              <a:lnSpc>
                <a:spcPct val="150000"/>
              </a:lnSpc>
            </a:pPr>
            <a:r>
              <a:rPr lang="en-US" sz="2000" b="1" dirty="0"/>
              <a:t>Columns </a:t>
            </a:r>
            <a:r>
              <a:rPr lang="en-US" sz="2000" dirty="0"/>
              <a:t> correspond to attributes of the entities.</a:t>
            </a:r>
          </a:p>
          <a:p>
            <a:pPr>
              <a:lnSpc>
                <a:spcPct val="150000"/>
              </a:lnSpc>
            </a:pPr>
            <a:r>
              <a:rPr lang="en-US" sz="2000" b="1" dirty="0"/>
              <a:t>Primary key</a:t>
            </a:r>
            <a:r>
              <a:rPr lang="en-US" sz="2000" dirty="0"/>
              <a:t>: the key field of a table that uniquely identifies its records.</a:t>
            </a:r>
          </a:p>
          <a:p>
            <a:pPr>
              <a:lnSpc>
                <a:spcPct val="150000"/>
              </a:lnSpc>
            </a:pPr>
            <a:r>
              <a:rPr lang="en-US" sz="2000" b="1" dirty="0"/>
              <a:t>Foreign key</a:t>
            </a:r>
            <a:r>
              <a:rPr lang="en-US" sz="2000" dirty="0"/>
              <a:t>: a primary key from one table used in another table to reference its records.</a:t>
            </a:r>
          </a:p>
        </p:txBody>
      </p:sp>
    </p:spTree>
    <p:extLst>
      <p:ext uri="{BB962C8B-B14F-4D97-AF65-F5344CB8AC3E}">
        <p14:creationId xmlns:p14="http://schemas.microsoft.com/office/powerpoint/2010/main" val="365629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Relational Database Tables</a:t>
            </a:r>
          </a:p>
        </p:txBody>
      </p:sp>
      <p:pic>
        <p:nvPicPr>
          <p:cNvPr id="3" name="Picture 2" descr="Figure 6.4 illustrates relational database tabl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00" y="1143001"/>
            <a:ext cx="6858000" cy="4970539"/>
          </a:xfrm>
          <a:prstGeom prst="rect">
            <a:avLst/>
          </a:prstGeom>
        </p:spPr>
      </p:pic>
      <p:sp>
        <p:nvSpPr>
          <p:cNvPr id="5" name="Rectangle 4">
            <a:extLst>
              <a:ext uri="{FF2B5EF4-FFF2-40B4-BE49-F238E27FC236}">
                <a16:creationId xmlns:a16="http://schemas.microsoft.com/office/drawing/2014/main" id="{B506CED5-43C1-19D0-1698-B36B66E78871}"/>
              </a:ext>
            </a:extLst>
          </p:cNvPr>
          <p:cNvSpPr/>
          <p:nvPr/>
        </p:nvSpPr>
        <p:spPr>
          <a:xfrm>
            <a:off x="2743200" y="1066800"/>
            <a:ext cx="762000" cy="3176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solidFill>
                <a:prstClr val="white"/>
              </a:solidFill>
              <a:latin typeface="Arial"/>
            </a:endParaRPr>
          </a:p>
        </p:txBody>
      </p:sp>
      <p:sp>
        <p:nvSpPr>
          <p:cNvPr id="6" name="Rectangle 5">
            <a:extLst>
              <a:ext uri="{FF2B5EF4-FFF2-40B4-BE49-F238E27FC236}">
                <a16:creationId xmlns:a16="http://schemas.microsoft.com/office/drawing/2014/main" id="{EF0CE56C-DE01-9DCE-9EF4-8B696C936F0D}"/>
              </a:ext>
            </a:extLst>
          </p:cNvPr>
          <p:cNvSpPr/>
          <p:nvPr/>
        </p:nvSpPr>
        <p:spPr>
          <a:xfrm>
            <a:off x="4114800" y="3469452"/>
            <a:ext cx="762000" cy="3176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A" sz="2000" dirty="0" err="1">
              <a:solidFill>
                <a:prstClr val="white"/>
              </a:solidFill>
              <a:latin typeface="Arial"/>
            </a:endParaRPr>
          </a:p>
        </p:txBody>
      </p:sp>
      <p:cxnSp>
        <p:nvCxnSpPr>
          <p:cNvPr id="8" name="Straight Arrow Connector 7">
            <a:extLst>
              <a:ext uri="{FF2B5EF4-FFF2-40B4-BE49-F238E27FC236}">
                <a16:creationId xmlns:a16="http://schemas.microsoft.com/office/drawing/2014/main" id="{CA60DD4C-6DCC-AE66-ADA2-B306CDCB4AC5}"/>
              </a:ext>
            </a:extLst>
          </p:cNvPr>
          <p:cNvCxnSpPr>
            <a:cxnSpLocks/>
          </p:cNvCxnSpPr>
          <p:nvPr/>
        </p:nvCxnSpPr>
        <p:spPr>
          <a:xfrm flipH="1">
            <a:off x="2256506" y="1384434"/>
            <a:ext cx="486695" cy="24673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4F8F045-F935-2F0C-E2FE-771EF7964497}"/>
              </a:ext>
            </a:extLst>
          </p:cNvPr>
          <p:cNvCxnSpPr>
            <a:cxnSpLocks/>
            <a:endCxn id="12" idx="3"/>
          </p:cNvCxnSpPr>
          <p:nvPr/>
        </p:nvCxnSpPr>
        <p:spPr>
          <a:xfrm flipH="1">
            <a:off x="2773680" y="3565410"/>
            <a:ext cx="1341120" cy="52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A9CB2E1-BD29-C84B-0592-95F3D275B615}"/>
              </a:ext>
            </a:extLst>
          </p:cNvPr>
          <p:cNvSpPr txBox="1"/>
          <p:nvPr/>
        </p:nvSpPr>
        <p:spPr>
          <a:xfrm>
            <a:off x="1747438" y="3893209"/>
            <a:ext cx="1026243" cy="400110"/>
          </a:xfrm>
          <a:prstGeom prst="rect">
            <a:avLst/>
          </a:prstGeom>
          <a:noFill/>
        </p:spPr>
        <p:txBody>
          <a:bodyPr wrap="none" rtlCol="0">
            <a:spAutoFit/>
          </a:bodyPr>
          <a:lstStyle/>
          <a:p>
            <a:r>
              <a:rPr lang="en-SA" sz="2000" dirty="0">
                <a:solidFill>
                  <a:prstClr val="black"/>
                </a:solidFill>
                <a:latin typeface="Arial"/>
              </a:rPr>
              <a:t>Entities</a:t>
            </a:r>
          </a:p>
        </p:txBody>
      </p:sp>
    </p:spTree>
    <p:extLst>
      <p:ext uri="{BB962C8B-B14F-4D97-AF65-F5344CB8AC3E}">
        <p14:creationId xmlns:p14="http://schemas.microsoft.com/office/powerpoint/2010/main" val="3583213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Databases</a:t>
            </a:r>
          </a:p>
        </p:txBody>
      </p:sp>
      <p:sp>
        <p:nvSpPr>
          <p:cNvPr id="3" name="Content Placeholder 2"/>
          <p:cNvSpPr>
            <a:spLocks noGrp="1"/>
          </p:cNvSpPr>
          <p:nvPr>
            <p:ph idx="1"/>
          </p:nvPr>
        </p:nvSpPr>
        <p:spPr>
          <a:xfrm>
            <a:off x="464024" y="1600200"/>
            <a:ext cx="10972800" cy="4648200"/>
          </a:xfrm>
        </p:spPr>
        <p:txBody>
          <a:bodyPr/>
          <a:lstStyle/>
          <a:p>
            <a:pPr marL="0" indent="0" algn="just">
              <a:lnSpc>
                <a:spcPct val="150000"/>
              </a:lnSpc>
              <a:buNone/>
            </a:pPr>
            <a:r>
              <a:rPr lang="en-US" sz="2400" b="1" dirty="0">
                <a:solidFill>
                  <a:srgbClr val="C00000"/>
                </a:solidFill>
              </a:rPr>
              <a:t>Conceptual design vs. physical design</a:t>
            </a:r>
            <a:endParaRPr lang="en-US" sz="2400" dirty="0">
              <a:solidFill>
                <a:srgbClr val="C00000"/>
              </a:solidFill>
            </a:endParaRPr>
          </a:p>
          <a:p>
            <a:pPr algn="just">
              <a:lnSpc>
                <a:spcPct val="150000"/>
              </a:lnSpc>
            </a:pPr>
            <a:r>
              <a:rPr lang="en-US" sz="2400" b="1" dirty="0"/>
              <a:t>Normalization</a:t>
            </a:r>
            <a:r>
              <a:rPr lang="en-US" sz="2400" dirty="0"/>
              <a:t>: Organizing complex data sets to reduce redundancy.</a:t>
            </a:r>
          </a:p>
          <a:p>
            <a:pPr algn="just">
              <a:lnSpc>
                <a:spcPct val="150000"/>
              </a:lnSpc>
            </a:pPr>
            <a:r>
              <a:rPr lang="en-US" sz="2400" b="1" dirty="0"/>
              <a:t>Referential integrity</a:t>
            </a:r>
            <a:r>
              <a:rPr lang="en-US" sz="2400" dirty="0"/>
              <a:t>: Rules enforced by the RDBMS to maintain consistent relationships between tables.</a:t>
            </a:r>
          </a:p>
          <a:p>
            <a:pPr algn="just">
              <a:lnSpc>
                <a:spcPct val="150000"/>
              </a:lnSpc>
            </a:pPr>
            <a:r>
              <a:rPr lang="en-US" sz="2400" b="1" dirty="0"/>
              <a:t>Entity-relationship diagram (ERD)</a:t>
            </a:r>
            <a:r>
              <a:rPr lang="en-US" sz="2400" dirty="0"/>
              <a:t>: A proper data model is important for a system to effectively support business operations.</a:t>
            </a:r>
          </a:p>
        </p:txBody>
      </p:sp>
    </p:spTree>
    <p:extLst>
      <p:ext uri="{BB962C8B-B14F-4D97-AF65-F5344CB8AC3E}">
        <p14:creationId xmlns:p14="http://schemas.microsoft.com/office/powerpoint/2010/main" val="119633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dirty="0"/>
              <a:t>Unnormalized vs normalized Relation for Order</a:t>
            </a:r>
          </a:p>
        </p:txBody>
      </p:sp>
      <p:pic>
        <p:nvPicPr>
          <p:cNvPr id="3" name="Picture 2" descr="Figure 6.9 illustrates an unnormalized relation for Ord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000" y="2146912"/>
            <a:ext cx="8269016" cy="685800"/>
          </a:xfrm>
          <a:prstGeom prst="rect">
            <a:avLst/>
          </a:prstGeom>
        </p:spPr>
      </p:pic>
      <p:pic>
        <p:nvPicPr>
          <p:cNvPr id="5" name="Picture 4" descr="Figure 6.10 illustrates normalized tables created from Order.">
            <a:extLst>
              <a:ext uri="{FF2B5EF4-FFF2-40B4-BE49-F238E27FC236}">
                <a16:creationId xmlns:a16="http://schemas.microsoft.com/office/drawing/2014/main" id="{47F20A9A-CFD0-BDFE-ED7C-02C8BA9A8E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1200" y="3657600"/>
            <a:ext cx="8222087" cy="2362200"/>
          </a:xfrm>
          <a:prstGeom prst="rect">
            <a:avLst/>
          </a:prstGeom>
        </p:spPr>
      </p:pic>
      <p:sp>
        <p:nvSpPr>
          <p:cNvPr id="7" name="TextBox 6">
            <a:extLst>
              <a:ext uri="{FF2B5EF4-FFF2-40B4-BE49-F238E27FC236}">
                <a16:creationId xmlns:a16="http://schemas.microsoft.com/office/drawing/2014/main" id="{7088BBF3-F02A-A298-2635-FAA973BB7E74}"/>
              </a:ext>
            </a:extLst>
          </p:cNvPr>
          <p:cNvSpPr txBox="1"/>
          <p:nvPr/>
        </p:nvSpPr>
        <p:spPr>
          <a:xfrm>
            <a:off x="1934271" y="3268950"/>
            <a:ext cx="4572000" cy="369332"/>
          </a:xfrm>
          <a:prstGeom prst="rect">
            <a:avLst/>
          </a:prstGeom>
          <a:noFill/>
        </p:spPr>
        <p:txBody>
          <a:bodyPr wrap="square">
            <a:spAutoFit/>
          </a:bodyPr>
          <a:lstStyle/>
          <a:p>
            <a:r>
              <a:rPr lang="en-US" b="1" dirty="0">
                <a:solidFill>
                  <a:prstClr val="black"/>
                </a:solidFill>
                <a:latin typeface="Arial"/>
              </a:rPr>
              <a:t>Normalized Tables </a:t>
            </a:r>
            <a:endParaRPr lang="en-SA" b="1" dirty="0">
              <a:solidFill>
                <a:prstClr val="black"/>
              </a:solidFill>
              <a:latin typeface="Arial"/>
            </a:endParaRPr>
          </a:p>
        </p:txBody>
      </p:sp>
      <p:sp>
        <p:nvSpPr>
          <p:cNvPr id="9" name="TextBox 8">
            <a:extLst>
              <a:ext uri="{FF2B5EF4-FFF2-40B4-BE49-F238E27FC236}">
                <a16:creationId xmlns:a16="http://schemas.microsoft.com/office/drawing/2014/main" id="{D2B77823-CB18-CE91-D0C1-86C126D601E3}"/>
              </a:ext>
            </a:extLst>
          </p:cNvPr>
          <p:cNvSpPr txBox="1"/>
          <p:nvPr/>
        </p:nvSpPr>
        <p:spPr>
          <a:xfrm>
            <a:off x="1934271" y="1367055"/>
            <a:ext cx="4572000" cy="369332"/>
          </a:xfrm>
          <a:prstGeom prst="rect">
            <a:avLst/>
          </a:prstGeom>
          <a:noFill/>
        </p:spPr>
        <p:txBody>
          <a:bodyPr wrap="square">
            <a:spAutoFit/>
          </a:bodyPr>
          <a:lstStyle/>
          <a:p>
            <a:r>
              <a:rPr lang="en-US" b="1" dirty="0">
                <a:solidFill>
                  <a:prstClr val="black"/>
                </a:solidFill>
                <a:latin typeface="Arial"/>
              </a:rPr>
              <a:t>Unnormalized Tables </a:t>
            </a:r>
            <a:endParaRPr lang="en-SA" b="1" dirty="0">
              <a:solidFill>
                <a:prstClr val="black"/>
              </a:solidFill>
              <a:latin typeface="Arial"/>
            </a:endParaRPr>
          </a:p>
        </p:txBody>
      </p:sp>
    </p:spTree>
    <p:extLst>
      <p:ext uri="{BB962C8B-B14F-4D97-AF65-F5344CB8AC3E}">
        <p14:creationId xmlns:p14="http://schemas.microsoft.com/office/powerpoint/2010/main" val="1011052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Intelligence Infrastructure (1 of 3)</a:t>
            </a:r>
          </a:p>
        </p:txBody>
      </p:sp>
      <p:sp>
        <p:nvSpPr>
          <p:cNvPr id="3" name="Content Placeholder 2"/>
          <p:cNvSpPr>
            <a:spLocks noGrp="1"/>
          </p:cNvSpPr>
          <p:nvPr>
            <p:ph idx="1"/>
          </p:nvPr>
        </p:nvSpPr>
        <p:spPr>
          <a:xfrm>
            <a:off x="609600" y="1600201"/>
            <a:ext cx="10445087" cy="4525963"/>
          </a:xfrm>
        </p:spPr>
        <p:txBody>
          <a:bodyPr/>
          <a:lstStyle/>
          <a:p>
            <a:pPr marL="0" indent="0" algn="just">
              <a:lnSpc>
                <a:spcPct val="150000"/>
              </a:lnSpc>
              <a:buNone/>
            </a:pPr>
            <a:r>
              <a:rPr lang="en-US" sz="2200" dirty="0"/>
              <a:t>Array of tools for obtaining information from separate systems and from big data:</a:t>
            </a:r>
          </a:p>
          <a:p>
            <a:pPr algn="just">
              <a:lnSpc>
                <a:spcPct val="150000"/>
              </a:lnSpc>
              <a:buFont typeface="Arial" charset="0"/>
              <a:buChar char="•"/>
              <a:defRPr/>
            </a:pPr>
            <a:r>
              <a:rPr lang="en-US" sz="2200" b="1" dirty="0">
                <a:solidFill>
                  <a:srgbClr val="FF0000"/>
                </a:solidFill>
              </a:rPr>
              <a:t>Data warehouses </a:t>
            </a:r>
          </a:p>
          <a:p>
            <a:pPr lvl="1" algn="just">
              <a:lnSpc>
                <a:spcPct val="150000"/>
              </a:lnSpc>
              <a:buFont typeface="Arial" charset="0"/>
              <a:buChar char="–"/>
              <a:defRPr/>
            </a:pPr>
            <a:r>
              <a:rPr lang="en-US" sz="2200" dirty="0"/>
              <a:t>Store current and </a:t>
            </a:r>
            <a:r>
              <a:rPr lang="en-US" sz="2200" b="1" dirty="0"/>
              <a:t>historical data </a:t>
            </a:r>
            <a:r>
              <a:rPr lang="en-US" sz="2200" dirty="0"/>
              <a:t>from many core operational transaction systems</a:t>
            </a:r>
          </a:p>
          <a:p>
            <a:pPr lvl="1" algn="just">
              <a:lnSpc>
                <a:spcPct val="150000"/>
              </a:lnSpc>
              <a:buFont typeface="Arial" charset="0"/>
              <a:buChar char="–"/>
              <a:defRPr/>
            </a:pPr>
            <a:r>
              <a:rPr lang="en-US" sz="2200" dirty="0"/>
              <a:t>Consolidate and normalize information for use across enterprise</a:t>
            </a:r>
          </a:p>
          <a:p>
            <a:pPr lvl="1" algn="just">
              <a:lnSpc>
                <a:spcPct val="150000"/>
              </a:lnSpc>
              <a:buFont typeface="Arial" charset="0"/>
              <a:buChar char="–"/>
              <a:defRPr/>
            </a:pPr>
            <a:r>
              <a:rPr lang="en-US" sz="2200" b="1" dirty="0"/>
              <a:t>Provide analysis and reporting tools</a:t>
            </a:r>
          </a:p>
        </p:txBody>
      </p:sp>
    </p:spTree>
    <p:extLst>
      <p:ext uri="{BB962C8B-B14F-4D97-AF65-F5344CB8AC3E}">
        <p14:creationId xmlns:p14="http://schemas.microsoft.com/office/powerpoint/2010/main" val="209421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52F21-B8F9-8302-90F0-9B1103E80084}"/>
              </a:ext>
            </a:extLst>
          </p:cNvPr>
          <p:cNvSpPr>
            <a:spLocks noGrp="1"/>
          </p:cNvSpPr>
          <p:nvPr>
            <p:ph type="title"/>
          </p:nvPr>
        </p:nvSpPr>
        <p:spPr/>
        <p:txBody>
          <a:bodyPr/>
          <a:lstStyle/>
          <a:p>
            <a:r>
              <a:rPr lang="en-SA" dirty="0"/>
              <a:t>Database vs Data warehouse</a:t>
            </a:r>
          </a:p>
        </p:txBody>
      </p:sp>
      <p:sp>
        <p:nvSpPr>
          <p:cNvPr id="4" name="Date Placeholder 3">
            <a:extLst>
              <a:ext uri="{FF2B5EF4-FFF2-40B4-BE49-F238E27FC236}">
                <a16:creationId xmlns:a16="http://schemas.microsoft.com/office/drawing/2014/main" id="{73F338A1-C4CD-A2E7-F0A9-09CD9BF93EAA}"/>
              </a:ext>
            </a:extLst>
          </p:cNvPr>
          <p:cNvSpPr>
            <a:spLocks noGrp="1"/>
          </p:cNvSpPr>
          <p:nvPr>
            <p:ph type="dt" sz="half" idx="10"/>
          </p:nvPr>
        </p:nvSpPr>
        <p:spPr/>
        <p:txBody>
          <a:bodyPr/>
          <a:lstStyle/>
          <a:p>
            <a:fld id="{B01F4EA1-B670-4AB6-BB74-53A52E7EA29E}" type="datetime12">
              <a:rPr lang="en-US" smtClean="0"/>
              <a:t>5:46 PM</a:t>
            </a:fld>
            <a:endParaRPr lang="en-US" dirty="0"/>
          </a:p>
        </p:txBody>
      </p:sp>
      <p:sp>
        <p:nvSpPr>
          <p:cNvPr id="5" name="Rectangle 1">
            <a:extLst>
              <a:ext uri="{FF2B5EF4-FFF2-40B4-BE49-F238E27FC236}">
                <a16:creationId xmlns:a16="http://schemas.microsoft.com/office/drawing/2014/main" id="{C59C51E7-8573-0E98-7ED1-BFFA44F49A55}"/>
              </a:ext>
            </a:extLst>
          </p:cNvPr>
          <p:cNvSpPr>
            <a:spLocks noGrp="1" noChangeArrowheads="1"/>
          </p:cNvSpPr>
          <p:nvPr>
            <p:ph idx="1"/>
          </p:nvPr>
        </p:nvSpPr>
        <p:spPr bwMode="auto">
          <a:xfrm>
            <a:off x="923499" y="2453284"/>
            <a:ext cx="10840871" cy="1951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SA" altLang="en-SA" sz="2800" b="0" i="0" u="none" strike="noStrike" cap="none" normalizeH="0" baseline="0" dirty="0">
                <a:ln>
                  <a:noFill/>
                </a:ln>
                <a:solidFill>
                  <a:schemeClr val="tx1"/>
                </a:solidFill>
                <a:effectLst/>
                <a:latin typeface="Arial" panose="020B0604020202020204" pitchFamily="34" charset="0"/>
              </a:rPr>
              <a:t>A </a:t>
            </a:r>
            <a:r>
              <a:rPr kumimoji="0" lang="en-SA" altLang="en-SA" sz="2800" b="1" i="0" u="none" strike="noStrike" cap="none" normalizeH="0" baseline="0" dirty="0">
                <a:ln>
                  <a:noFill/>
                </a:ln>
                <a:solidFill>
                  <a:schemeClr val="tx1"/>
                </a:solidFill>
                <a:effectLst/>
                <a:latin typeface="Arial" panose="020B0604020202020204" pitchFamily="34" charset="0"/>
              </a:rPr>
              <a:t>database</a:t>
            </a:r>
            <a:r>
              <a:rPr kumimoji="0" lang="en-SA" altLang="en-SA" sz="2800" b="0" i="0" u="none" strike="noStrike" cap="none" normalizeH="0" baseline="0" dirty="0">
                <a:ln>
                  <a:noFill/>
                </a:ln>
                <a:solidFill>
                  <a:schemeClr val="tx1"/>
                </a:solidFill>
                <a:effectLst/>
                <a:latin typeface="Arial" panose="020B0604020202020204" pitchFamily="34" charset="0"/>
              </a:rPr>
              <a:t> is for </a:t>
            </a:r>
            <a:r>
              <a:rPr kumimoji="0" lang="en-SA" altLang="en-SA" sz="2800" b="0" i="0" u="sng" strike="noStrike" cap="none" normalizeH="0" baseline="0" dirty="0">
                <a:ln>
                  <a:noFill/>
                </a:ln>
                <a:solidFill>
                  <a:schemeClr val="tx1"/>
                </a:solidFill>
                <a:effectLst/>
                <a:latin typeface="Arial" panose="020B0604020202020204" pitchFamily="34" charset="0"/>
              </a:rPr>
              <a:t>running</a:t>
            </a:r>
            <a:r>
              <a:rPr kumimoji="0" lang="en-SA" altLang="en-SA" sz="2800" b="0" i="0" u="none" strike="noStrike" cap="none" normalizeH="0" baseline="0" dirty="0">
                <a:ln>
                  <a:noFill/>
                </a:ln>
                <a:solidFill>
                  <a:schemeClr val="tx1"/>
                </a:solidFill>
                <a:effectLst/>
                <a:latin typeface="Arial" panose="020B0604020202020204" pitchFamily="34" charset="0"/>
              </a:rPr>
              <a:t> the business (</a:t>
            </a:r>
            <a:r>
              <a:rPr kumimoji="0" lang="en-SA" altLang="en-SA" sz="2800" b="1" i="0" u="none" strike="noStrike" cap="none" normalizeH="0" baseline="0" dirty="0">
                <a:ln>
                  <a:noFill/>
                </a:ln>
                <a:solidFill>
                  <a:schemeClr val="bg2">
                    <a:lumMod val="75000"/>
                  </a:schemeClr>
                </a:solidFill>
                <a:effectLst/>
                <a:latin typeface="Arial" panose="020B0604020202020204" pitchFamily="34" charset="0"/>
              </a:rPr>
              <a:t>operations</a:t>
            </a:r>
            <a:r>
              <a:rPr kumimoji="0" lang="en-SA" altLang="en-SA"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SA" altLang="en-SA" sz="2800" b="0" i="0" u="none" strike="noStrike" cap="none" normalizeH="0" baseline="0" dirty="0">
                <a:ln>
                  <a:noFill/>
                </a:ln>
                <a:solidFill>
                  <a:schemeClr val="tx1"/>
                </a:solidFill>
                <a:effectLst/>
                <a:latin typeface="Arial" panose="020B0604020202020204" pitchFamily="34" charset="0"/>
              </a:rPr>
              <a:t>A </a:t>
            </a:r>
            <a:r>
              <a:rPr kumimoji="0" lang="en-SA" altLang="en-SA" sz="2800" b="1" i="0" u="none" strike="noStrike" cap="none" normalizeH="0" baseline="0" dirty="0">
                <a:ln>
                  <a:noFill/>
                </a:ln>
                <a:solidFill>
                  <a:schemeClr val="tx1"/>
                </a:solidFill>
                <a:effectLst/>
                <a:latin typeface="Arial" panose="020B0604020202020204" pitchFamily="34" charset="0"/>
              </a:rPr>
              <a:t>data warehouse</a:t>
            </a:r>
            <a:r>
              <a:rPr kumimoji="0" lang="en-SA" altLang="en-SA" sz="2800" b="0" i="0" u="none" strike="noStrike" cap="none" normalizeH="0" baseline="0" dirty="0">
                <a:ln>
                  <a:noFill/>
                </a:ln>
                <a:solidFill>
                  <a:schemeClr val="tx1"/>
                </a:solidFill>
                <a:effectLst/>
                <a:latin typeface="Arial" panose="020B0604020202020204" pitchFamily="34" charset="0"/>
              </a:rPr>
              <a:t> is for </a:t>
            </a:r>
            <a:r>
              <a:rPr kumimoji="0" lang="en-SA" altLang="en-SA" sz="2800" b="0" i="0" u="sng" strike="noStrike" cap="none" normalizeH="0" baseline="0" dirty="0">
                <a:ln>
                  <a:noFill/>
                </a:ln>
                <a:solidFill>
                  <a:schemeClr val="tx1"/>
                </a:solidFill>
                <a:effectLst/>
                <a:latin typeface="Arial" panose="020B0604020202020204" pitchFamily="34" charset="0"/>
              </a:rPr>
              <a:t>analyzing</a:t>
            </a:r>
            <a:r>
              <a:rPr kumimoji="0" lang="en-SA" altLang="en-SA" sz="2800" b="0" i="0" u="none" strike="noStrike" cap="none" normalizeH="0" baseline="0" dirty="0">
                <a:ln>
                  <a:noFill/>
                </a:ln>
                <a:solidFill>
                  <a:schemeClr val="tx1"/>
                </a:solidFill>
                <a:effectLst/>
                <a:latin typeface="Arial" panose="020B0604020202020204" pitchFamily="34" charset="0"/>
              </a:rPr>
              <a:t> the business (</a:t>
            </a:r>
            <a:r>
              <a:rPr lang="en-SA" altLang="en-SA" sz="2800" b="1" dirty="0">
                <a:solidFill>
                  <a:schemeClr val="bg2">
                    <a:lumMod val="75000"/>
                  </a:schemeClr>
                </a:solidFill>
                <a:latin typeface="Arial" panose="020B0604020202020204" pitchFamily="34" charset="0"/>
              </a:rPr>
              <a:t>strategy and decisions</a:t>
            </a:r>
            <a:r>
              <a:rPr kumimoji="0" lang="en-SA" altLang="en-SA" sz="2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294168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Intelligence Infrastructure (2 of 3)</a:t>
            </a:r>
          </a:p>
        </p:txBody>
      </p:sp>
      <p:sp>
        <p:nvSpPr>
          <p:cNvPr id="3" name="Content Placeholder 2"/>
          <p:cNvSpPr>
            <a:spLocks noGrp="1"/>
          </p:cNvSpPr>
          <p:nvPr>
            <p:ph idx="1"/>
          </p:nvPr>
        </p:nvSpPr>
        <p:spPr>
          <a:xfrm>
            <a:off x="763929" y="1524000"/>
            <a:ext cx="9826906" cy="4724400"/>
          </a:xfrm>
        </p:spPr>
        <p:txBody>
          <a:bodyPr/>
          <a:lstStyle/>
          <a:p>
            <a:pPr>
              <a:buFont typeface="Arial" charset="0"/>
              <a:buChar char="•"/>
              <a:defRPr/>
            </a:pPr>
            <a:r>
              <a:rPr lang="en-US" sz="2400" b="1" dirty="0">
                <a:solidFill>
                  <a:srgbClr val="FF0000"/>
                </a:solidFill>
                <a:latin typeface="Calibri" panose="020F0502020204030204" pitchFamily="34" charset="0"/>
                <a:cs typeface="Calibri" panose="020F0502020204030204" pitchFamily="34" charset="0"/>
              </a:rPr>
              <a:t>Data marts</a:t>
            </a:r>
          </a:p>
          <a:p>
            <a:pPr lvl="1">
              <a:buFont typeface="Arial" charset="0"/>
              <a:buChar char="–"/>
              <a:defRPr/>
            </a:pPr>
            <a:r>
              <a:rPr lang="en-US" sz="2400" b="1" dirty="0">
                <a:latin typeface="Calibri" panose="020F0502020204030204" pitchFamily="34" charset="0"/>
                <a:cs typeface="Calibri" panose="020F0502020204030204" pitchFamily="34" charset="0"/>
              </a:rPr>
              <a:t>Subset of data warehouse</a:t>
            </a:r>
          </a:p>
          <a:p>
            <a:pPr lvl="1">
              <a:buFont typeface="Arial" charset="0"/>
              <a:buChar char="–"/>
              <a:defRPr/>
            </a:pPr>
            <a:r>
              <a:rPr lang="en-US" sz="2400" dirty="0">
                <a:latin typeface="Calibri" panose="020F0502020204030204" pitchFamily="34" charset="0"/>
                <a:cs typeface="Calibri" panose="020F0502020204030204" pitchFamily="34" charset="0"/>
              </a:rPr>
              <a:t>Typically focus on single subject or line of business</a:t>
            </a:r>
          </a:p>
          <a:p>
            <a:pPr>
              <a:defRPr/>
            </a:pPr>
            <a:r>
              <a:rPr lang="en-US" sz="2400" b="1" dirty="0">
                <a:solidFill>
                  <a:srgbClr val="FF0000"/>
                </a:solidFill>
                <a:latin typeface="Calibri" panose="020F0502020204030204" pitchFamily="34" charset="0"/>
                <a:cs typeface="Calibri" panose="020F0502020204030204" pitchFamily="34" charset="0"/>
              </a:rPr>
              <a:t>Hadoop</a:t>
            </a:r>
          </a:p>
          <a:p>
            <a:pPr>
              <a:buFont typeface="Wingdings" pitchFamily="2" charset="2"/>
              <a:buChar char="ü"/>
            </a:pPr>
            <a:r>
              <a:rPr lang="en-US" sz="2400" dirty="0">
                <a:latin typeface="Calibri" panose="020F0502020204030204" pitchFamily="34" charset="0"/>
                <a:cs typeface="Calibri" panose="020F0502020204030204" pitchFamily="34" charset="0"/>
              </a:rPr>
              <a:t>Is a </a:t>
            </a:r>
            <a:r>
              <a:rPr lang="en-US" sz="2400" b="1" dirty="0">
                <a:latin typeface="Calibri" panose="020F0502020204030204" pitchFamily="34" charset="0"/>
                <a:cs typeface="Calibri" panose="020F0502020204030204" pitchFamily="34" charset="0"/>
              </a:rPr>
              <a:t>framework</a:t>
            </a:r>
            <a:r>
              <a:rPr lang="en-US" sz="2400" dirty="0">
                <a:latin typeface="Calibri" panose="020F0502020204030204" pitchFamily="34" charset="0"/>
                <a:cs typeface="Calibri" panose="020F0502020204030204" pitchFamily="34" charset="0"/>
              </a:rPr>
              <a:t> for distributed storage and processing of </a:t>
            </a:r>
            <a:r>
              <a:rPr lang="en-US" sz="2400" b="1" dirty="0">
                <a:latin typeface="Calibri" panose="020F0502020204030204" pitchFamily="34" charset="0"/>
                <a:cs typeface="Calibri" panose="020F0502020204030204" pitchFamily="34" charset="0"/>
              </a:rPr>
              <a:t>big data </a:t>
            </a:r>
            <a:r>
              <a:rPr lang="en-US" sz="2400" dirty="0">
                <a:latin typeface="Calibri" panose="020F0502020204030204" pitchFamily="34" charset="0"/>
                <a:cs typeface="Calibri" panose="020F0502020204030204" pitchFamily="34" charset="0"/>
              </a:rPr>
              <a:t>on clusters of computers.</a:t>
            </a:r>
          </a:p>
          <a:p>
            <a:pPr>
              <a:buFont typeface="Wingdings" pitchFamily="2" charset="2"/>
              <a:buChar char="ü"/>
            </a:pPr>
            <a:r>
              <a:rPr lang="en-US" sz="2400" dirty="0">
                <a:latin typeface="Calibri" panose="020F0502020204030204" pitchFamily="34" charset="0"/>
                <a:cs typeface="Calibri" panose="020F0502020204030204" pitchFamily="34" charset="0"/>
              </a:rPr>
              <a:t>Key services</a:t>
            </a:r>
          </a:p>
          <a:p>
            <a:pPr lvl="2">
              <a:defRPr/>
            </a:pPr>
            <a:r>
              <a:rPr lang="en-US" sz="2400" b="1" dirty="0">
                <a:latin typeface="Calibri" panose="020F0502020204030204" pitchFamily="34" charset="0"/>
                <a:cs typeface="Calibri" panose="020F0502020204030204" pitchFamily="34" charset="0"/>
              </a:rPr>
              <a:t>Hadoop Distributed File System (HDFS): </a:t>
            </a:r>
            <a:r>
              <a:rPr lang="en-US" sz="2400" dirty="0">
                <a:latin typeface="Calibri" panose="020F0502020204030204" pitchFamily="34" charset="0"/>
                <a:cs typeface="Calibri" panose="020F0502020204030204" pitchFamily="34" charset="0"/>
              </a:rPr>
              <a:t>data storage</a:t>
            </a:r>
          </a:p>
          <a:p>
            <a:pPr lvl="2">
              <a:defRPr/>
            </a:pPr>
            <a:r>
              <a:rPr lang="en-US" sz="2400" b="1" dirty="0">
                <a:latin typeface="Calibri" panose="020F0502020204030204" pitchFamily="34" charset="0"/>
                <a:cs typeface="Calibri" panose="020F0502020204030204" pitchFamily="34" charset="0"/>
              </a:rPr>
              <a:t>MapReduce: </a:t>
            </a:r>
            <a:r>
              <a:rPr lang="en-US" sz="2400" dirty="0">
                <a:latin typeface="Calibri" panose="020F0502020204030204" pitchFamily="34" charset="0"/>
                <a:cs typeface="Calibri" panose="020F0502020204030204" pitchFamily="34" charset="0"/>
              </a:rPr>
              <a:t>breaks data into clusters for work</a:t>
            </a:r>
          </a:p>
          <a:p>
            <a:pPr lvl="2">
              <a:defRPr/>
            </a:pPr>
            <a:r>
              <a:rPr lang="en-US" sz="2400" b="1" dirty="0">
                <a:latin typeface="Calibri" panose="020F0502020204030204" pitchFamily="34" charset="0"/>
                <a:cs typeface="Calibri" panose="020F0502020204030204" pitchFamily="34" charset="0"/>
              </a:rPr>
              <a:t>Hbase</a:t>
            </a:r>
            <a:r>
              <a:rPr lang="en-US" sz="2400" dirty="0">
                <a:latin typeface="Calibri" panose="020F0502020204030204" pitchFamily="34" charset="0"/>
                <a:cs typeface="Calibri" panose="020F0502020204030204" pitchFamily="34" charset="0"/>
              </a:rPr>
              <a:t>: NoSQL database</a:t>
            </a:r>
          </a:p>
        </p:txBody>
      </p:sp>
      <p:sp>
        <p:nvSpPr>
          <p:cNvPr id="4" name="Date Placeholder 3">
            <a:extLst>
              <a:ext uri="{FF2B5EF4-FFF2-40B4-BE49-F238E27FC236}">
                <a16:creationId xmlns:a16="http://schemas.microsoft.com/office/drawing/2014/main" id="{5F5CD9F1-BCE2-F956-352A-1E35856585B2}"/>
              </a:ext>
            </a:extLst>
          </p:cNvPr>
          <p:cNvSpPr>
            <a:spLocks noGrp="1"/>
          </p:cNvSpPr>
          <p:nvPr>
            <p:ph type="dt" sz="half" idx="10"/>
          </p:nvPr>
        </p:nvSpPr>
        <p:spPr/>
        <p:txBody>
          <a:bodyPr/>
          <a:lstStyle/>
          <a:p>
            <a:fld id="{3AC1096A-848D-4534-90CA-D66EB16289A0}"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2970655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Intelligence Infrastructure (3 of 3)</a:t>
            </a:r>
          </a:p>
        </p:txBody>
      </p:sp>
      <p:sp>
        <p:nvSpPr>
          <p:cNvPr id="3" name="Content Placeholder 2"/>
          <p:cNvSpPr>
            <a:spLocks noGrp="1"/>
          </p:cNvSpPr>
          <p:nvPr>
            <p:ph idx="1"/>
          </p:nvPr>
        </p:nvSpPr>
        <p:spPr>
          <a:xfrm>
            <a:off x="609600" y="1417638"/>
            <a:ext cx="9829800" cy="4906963"/>
          </a:xfrm>
        </p:spPr>
        <p:txBody>
          <a:bodyPr/>
          <a:lstStyle/>
          <a:p>
            <a:pPr>
              <a:defRPr/>
            </a:pPr>
            <a:r>
              <a:rPr lang="en-US" sz="2400" b="1" dirty="0">
                <a:solidFill>
                  <a:srgbClr val="FF0000"/>
                </a:solidFill>
                <a:latin typeface="Calibri" panose="020F0502020204030204" pitchFamily="34" charset="0"/>
                <a:cs typeface="Calibri" panose="020F0502020204030204" pitchFamily="34" charset="0"/>
              </a:rPr>
              <a:t>In-memory computing</a:t>
            </a:r>
          </a:p>
          <a:p>
            <a:pPr marL="0" indent="0" eaLnBrk="0" fontAlgn="base" hangingPunct="0">
              <a:lnSpc>
                <a:spcPct val="150000"/>
              </a:lnSpc>
              <a:spcBef>
                <a:spcPct val="0"/>
              </a:spcBef>
              <a:spcAft>
                <a:spcPct val="0"/>
              </a:spcAft>
              <a:buClrTx/>
              <a:buSzTx/>
              <a:buFontTx/>
              <a:buChar char="•"/>
            </a:pPr>
            <a:r>
              <a:rPr lang="en-SA" altLang="en-SA" sz="2200" dirty="0">
                <a:latin typeface="Calibri" panose="020F0502020204030204" pitchFamily="34" charset="0"/>
                <a:cs typeface="Calibri" panose="020F0502020204030204" pitchFamily="34" charset="0"/>
              </a:rPr>
              <a:t>Used in </a:t>
            </a:r>
            <a:r>
              <a:rPr lang="en-SA" altLang="en-SA" sz="2200" b="1" dirty="0">
                <a:latin typeface="Calibri" panose="020F0502020204030204" pitchFamily="34" charset="0"/>
                <a:cs typeface="Calibri" panose="020F0502020204030204" pitchFamily="34" charset="0"/>
              </a:rPr>
              <a:t>big data analysis</a:t>
            </a:r>
            <a:r>
              <a:rPr lang="en-SA" altLang="en-SA" sz="2200" dirty="0">
                <a:latin typeface="Calibri" panose="020F0502020204030204" pitchFamily="34" charset="0"/>
                <a:cs typeface="Calibri" panose="020F0502020204030204" pitchFamily="34" charset="0"/>
              </a:rPr>
              <a:t> and </a:t>
            </a:r>
            <a:r>
              <a:rPr lang="en-SA" altLang="en-SA" sz="2200" b="1" dirty="0">
                <a:latin typeface="Calibri" panose="020F0502020204030204" pitchFamily="34" charset="0"/>
                <a:cs typeface="Calibri" panose="020F0502020204030204" pitchFamily="34" charset="0"/>
              </a:rPr>
              <a:t>real-time processing</a:t>
            </a:r>
            <a:endParaRPr lang="en-SA" altLang="en-SA" sz="2200" dirty="0">
              <a:latin typeface="Calibri" panose="020F0502020204030204" pitchFamily="34" charset="0"/>
              <a:cs typeface="Calibri" panose="020F0502020204030204" pitchFamily="34" charset="0"/>
            </a:endParaRPr>
          </a:p>
          <a:p>
            <a:pPr marL="0" indent="0" eaLnBrk="0" fontAlgn="base" hangingPunct="0">
              <a:lnSpc>
                <a:spcPct val="150000"/>
              </a:lnSpc>
              <a:spcBef>
                <a:spcPct val="0"/>
              </a:spcBef>
              <a:spcAft>
                <a:spcPct val="0"/>
              </a:spcAft>
              <a:buClrTx/>
              <a:buSzTx/>
              <a:buFontTx/>
              <a:buChar char="•"/>
            </a:pPr>
            <a:r>
              <a:rPr lang="en-SA" altLang="en-SA" sz="2200" dirty="0">
                <a:latin typeface="Calibri" panose="020F0502020204030204" pitchFamily="34" charset="0"/>
                <a:cs typeface="Calibri" panose="020F0502020204030204" pitchFamily="34" charset="0"/>
              </a:rPr>
              <a:t>Stores data in the computer’s </a:t>
            </a:r>
            <a:r>
              <a:rPr lang="en-SA" altLang="en-SA" sz="2200" b="1" dirty="0">
                <a:latin typeface="Calibri" panose="020F0502020204030204" pitchFamily="34" charset="0"/>
                <a:cs typeface="Calibri" panose="020F0502020204030204" pitchFamily="34" charset="0"/>
              </a:rPr>
              <a:t>main memory (RAM)</a:t>
            </a:r>
            <a:r>
              <a:rPr lang="en-SA" altLang="en-SA" sz="2200" dirty="0">
                <a:latin typeface="Calibri" panose="020F0502020204030204" pitchFamily="34" charset="0"/>
                <a:cs typeface="Calibri" panose="020F0502020204030204" pitchFamily="34" charset="0"/>
              </a:rPr>
              <a:t> instead of disk storage</a:t>
            </a:r>
          </a:p>
          <a:p>
            <a:pPr marL="0" indent="0" eaLnBrk="0" fontAlgn="base" hangingPunct="0">
              <a:lnSpc>
                <a:spcPct val="150000"/>
              </a:lnSpc>
              <a:spcBef>
                <a:spcPct val="0"/>
              </a:spcBef>
              <a:spcAft>
                <a:spcPct val="0"/>
              </a:spcAft>
              <a:buClrTx/>
              <a:buSzTx/>
              <a:buFontTx/>
              <a:buChar char="•"/>
            </a:pPr>
            <a:r>
              <a:rPr lang="en-SA" altLang="en-SA" sz="2200" b="1" dirty="0">
                <a:latin typeface="Calibri" panose="020F0502020204030204" pitchFamily="34" charset="0"/>
                <a:cs typeface="Calibri" panose="020F0502020204030204" pitchFamily="34" charset="0"/>
              </a:rPr>
              <a:t>Eliminates delays</a:t>
            </a:r>
            <a:r>
              <a:rPr lang="en-SA" altLang="en-SA" sz="2200" dirty="0">
                <a:latin typeface="Calibri" panose="020F0502020204030204" pitchFamily="34" charset="0"/>
                <a:cs typeface="Calibri" panose="020F0502020204030204" pitchFamily="34" charset="0"/>
              </a:rPr>
              <a:t> caused by reading and writing to disks</a:t>
            </a:r>
          </a:p>
          <a:p>
            <a:pPr marL="0" indent="0" eaLnBrk="0" fontAlgn="base" hangingPunct="0">
              <a:lnSpc>
                <a:spcPct val="150000"/>
              </a:lnSpc>
              <a:spcBef>
                <a:spcPct val="0"/>
              </a:spcBef>
              <a:spcAft>
                <a:spcPct val="0"/>
              </a:spcAft>
              <a:buClrTx/>
              <a:buSzTx/>
              <a:buFontTx/>
              <a:buChar char="•"/>
            </a:pPr>
            <a:r>
              <a:rPr lang="en-SA" altLang="en-SA" sz="2200" dirty="0">
                <a:latin typeface="Calibri" panose="020F0502020204030204" pitchFamily="34" charset="0"/>
                <a:cs typeface="Calibri" panose="020F0502020204030204" pitchFamily="34" charset="0"/>
              </a:rPr>
              <a:t>Can </a:t>
            </a:r>
            <a:r>
              <a:rPr lang="en-SA" altLang="en-SA" sz="2200" b="1" dirty="0">
                <a:latin typeface="Calibri" panose="020F0502020204030204" pitchFamily="34" charset="0"/>
                <a:cs typeface="Calibri" panose="020F0502020204030204" pitchFamily="34" charset="0"/>
              </a:rPr>
              <a:t>reduce processing time</a:t>
            </a:r>
            <a:r>
              <a:rPr lang="en-SA" altLang="en-SA" sz="2200" dirty="0">
                <a:latin typeface="Calibri" panose="020F0502020204030204" pitchFamily="34" charset="0"/>
                <a:cs typeface="Calibri" panose="020F0502020204030204" pitchFamily="34" charset="0"/>
              </a:rPr>
              <a:t> from hours or days to seconds</a:t>
            </a:r>
          </a:p>
          <a:p>
            <a:pPr marL="0" indent="0" eaLnBrk="0" fontAlgn="base" hangingPunct="0">
              <a:lnSpc>
                <a:spcPct val="150000"/>
              </a:lnSpc>
              <a:spcBef>
                <a:spcPct val="0"/>
              </a:spcBef>
              <a:spcAft>
                <a:spcPct val="0"/>
              </a:spcAft>
              <a:buClrTx/>
              <a:buSzTx/>
              <a:buFontTx/>
              <a:buChar char="•"/>
            </a:pPr>
            <a:r>
              <a:rPr lang="en-SA" altLang="en-SA" sz="2200" dirty="0">
                <a:latin typeface="Calibri" panose="020F0502020204030204" pitchFamily="34" charset="0"/>
                <a:cs typeface="Calibri" panose="020F0502020204030204" pitchFamily="34" charset="0"/>
              </a:rPr>
              <a:t>Requires </a:t>
            </a:r>
            <a:r>
              <a:rPr lang="en-SA" altLang="en-SA" sz="2200" b="1" dirty="0">
                <a:latin typeface="Calibri" panose="020F0502020204030204" pitchFamily="34" charset="0"/>
                <a:cs typeface="Calibri" panose="020F0502020204030204" pitchFamily="34" charset="0"/>
              </a:rPr>
              <a:t>high-performance, optimized hardware</a:t>
            </a:r>
            <a:endParaRPr lang="en-US" sz="2200" dirty="0">
              <a:solidFill>
                <a:srgbClr val="FF0000"/>
              </a:solidFill>
            </a:endParaRPr>
          </a:p>
          <a:p>
            <a:pPr>
              <a:defRPr/>
            </a:pPr>
            <a:r>
              <a:rPr lang="en-US" sz="2400" b="1" dirty="0">
                <a:solidFill>
                  <a:srgbClr val="FF0000"/>
                </a:solidFill>
                <a:latin typeface="Calibri" panose="020F0502020204030204" pitchFamily="34" charset="0"/>
                <a:cs typeface="Calibri" panose="020F0502020204030204" pitchFamily="34" charset="0"/>
              </a:rPr>
              <a:t>Analytic platforms</a:t>
            </a:r>
          </a:p>
          <a:p>
            <a:pPr lvl="1">
              <a:defRPr/>
            </a:pPr>
            <a:r>
              <a:rPr lang="en-US" dirty="0"/>
              <a:t>High-speed platforms using both relational and non-relational tools optimized for large datasets</a:t>
            </a:r>
          </a:p>
        </p:txBody>
      </p:sp>
      <p:sp>
        <p:nvSpPr>
          <p:cNvPr id="4" name="Date Placeholder 3">
            <a:extLst>
              <a:ext uri="{FF2B5EF4-FFF2-40B4-BE49-F238E27FC236}">
                <a16:creationId xmlns:a16="http://schemas.microsoft.com/office/drawing/2014/main" id="{1CE514C0-D7A2-8BF2-E914-DF08DDE37A69}"/>
              </a:ext>
            </a:extLst>
          </p:cNvPr>
          <p:cNvSpPr>
            <a:spLocks noGrp="1"/>
          </p:cNvSpPr>
          <p:nvPr>
            <p:ph type="dt" sz="half" idx="10"/>
          </p:nvPr>
        </p:nvSpPr>
        <p:spPr/>
        <p:txBody>
          <a:bodyPr/>
          <a:lstStyle/>
          <a:p>
            <a:fld id="{CD20DBC1-BACC-470E-AAE3-49EBC104E84E}"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397173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Business Intelligence Infrastructure</a:t>
            </a:r>
          </a:p>
        </p:txBody>
      </p:sp>
      <p:pic>
        <p:nvPicPr>
          <p:cNvPr id="3" name="Picture 2" descr="Figure 6.12 illustrates a contemporary business intelligence infrastructur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1420644"/>
            <a:ext cx="7315200" cy="5022510"/>
          </a:xfrm>
          <a:prstGeom prst="rect">
            <a:avLst/>
          </a:prstGeom>
        </p:spPr>
      </p:pic>
      <p:sp>
        <p:nvSpPr>
          <p:cNvPr id="4" name="Date Placeholder 3">
            <a:extLst>
              <a:ext uri="{FF2B5EF4-FFF2-40B4-BE49-F238E27FC236}">
                <a16:creationId xmlns:a16="http://schemas.microsoft.com/office/drawing/2014/main" id="{A2BB44DD-FADD-B513-E871-D02A84C8A73C}"/>
              </a:ext>
            </a:extLst>
          </p:cNvPr>
          <p:cNvSpPr>
            <a:spLocks noGrp="1"/>
          </p:cNvSpPr>
          <p:nvPr>
            <p:ph type="dt" sz="half" idx="10"/>
          </p:nvPr>
        </p:nvSpPr>
        <p:spPr/>
        <p:txBody>
          <a:bodyPr/>
          <a:lstStyle/>
          <a:p>
            <a:fld id="{5F3C48DF-D510-456E-B5D7-6BD06D8C001D}"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2232327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Analytical Tools: Relationships, Patterns, Trends</a:t>
            </a:r>
          </a:p>
        </p:txBody>
      </p:sp>
      <p:sp>
        <p:nvSpPr>
          <p:cNvPr id="3" name="Content Placeholder 2"/>
          <p:cNvSpPr>
            <a:spLocks noGrp="1"/>
          </p:cNvSpPr>
          <p:nvPr>
            <p:ph idx="1"/>
          </p:nvPr>
        </p:nvSpPr>
        <p:spPr/>
        <p:txBody>
          <a:bodyPr/>
          <a:lstStyle/>
          <a:p>
            <a:pPr algn="just">
              <a:lnSpc>
                <a:spcPct val="150000"/>
              </a:lnSpc>
            </a:pPr>
            <a:r>
              <a:rPr lang="en-US" sz="2400" dirty="0">
                <a:latin typeface="Calibri" panose="020F0502020204030204" pitchFamily="34" charset="0"/>
                <a:cs typeface="Calibri" panose="020F0502020204030204" pitchFamily="34" charset="0"/>
              </a:rPr>
              <a:t>Tools for </a:t>
            </a:r>
            <a:r>
              <a:rPr lang="en-US" sz="2400" b="1" dirty="0">
                <a:latin typeface="Calibri" panose="020F0502020204030204" pitchFamily="34" charset="0"/>
                <a:cs typeface="Calibri" panose="020F0502020204030204" pitchFamily="34" charset="0"/>
              </a:rPr>
              <a:t>consolidating, analyzing, and providing access </a:t>
            </a:r>
            <a:r>
              <a:rPr lang="en-US" sz="2400" dirty="0">
                <a:latin typeface="Calibri" panose="020F0502020204030204" pitchFamily="34" charset="0"/>
                <a:cs typeface="Calibri" panose="020F0502020204030204" pitchFamily="34" charset="0"/>
              </a:rPr>
              <a:t>to vast amounts of data to help users make better business decisions</a:t>
            </a:r>
          </a:p>
          <a:p>
            <a:pPr lvl="1" algn="just">
              <a:lnSpc>
                <a:spcPct val="150000"/>
              </a:lnSpc>
            </a:pPr>
            <a:r>
              <a:rPr lang="en-US" sz="2400" b="1" dirty="0">
                <a:solidFill>
                  <a:schemeClr val="accent5"/>
                </a:solidFill>
                <a:latin typeface="Calibri" panose="020F0502020204030204" pitchFamily="34" charset="0"/>
                <a:cs typeface="Calibri" panose="020F0502020204030204" pitchFamily="34" charset="0"/>
              </a:rPr>
              <a:t>Online Analytical Processing (OLAP)</a:t>
            </a:r>
          </a:p>
          <a:p>
            <a:pPr lvl="1" algn="just">
              <a:lnSpc>
                <a:spcPct val="150000"/>
              </a:lnSpc>
            </a:pPr>
            <a:r>
              <a:rPr lang="en-US" sz="2400" b="1" dirty="0">
                <a:solidFill>
                  <a:schemeClr val="accent5"/>
                </a:solidFill>
                <a:latin typeface="Calibri" panose="020F0502020204030204" pitchFamily="34" charset="0"/>
                <a:cs typeface="Calibri" panose="020F0502020204030204" pitchFamily="34" charset="0"/>
              </a:rPr>
              <a:t>Data mining</a:t>
            </a:r>
          </a:p>
          <a:p>
            <a:pPr lvl="1" algn="just">
              <a:lnSpc>
                <a:spcPct val="150000"/>
              </a:lnSpc>
            </a:pPr>
            <a:r>
              <a:rPr lang="en-US" sz="2400" b="1" dirty="0">
                <a:solidFill>
                  <a:schemeClr val="accent5"/>
                </a:solidFill>
                <a:latin typeface="Calibri" panose="020F0502020204030204" pitchFamily="34" charset="0"/>
                <a:cs typeface="Calibri" panose="020F0502020204030204" pitchFamily="34" charset="0"/>
              </a:rPr>
              <a:t>Text mining </a:t>
            </a:r>
          </a:p>
          <a:p>
            <a:pPr lvl="1" algn="just">
              <a:lnSpc>
                <a:spcPct val="150000"/>
              </a:lnSpc>
            </a:pPr>
            <a:r>
              <a:rPr lang="en-US" sz="2400" b="1" dirty="0">
                <a:solidFill>
                  <a:schemeClr val="accent5"/>
                </a:solidFill>
                <a:latin typeface="Calibri" panose="020F0502020204030204" pitchFamily="34" charset="0"/>
                <a:cs typeface="Calibri" panose="020F0502020204030204" pitchFamily="34" charset="0"/>
              </a:rPr>
              <a:t>Web mining</a:t>
            </a:r>
          </a:p>
        </p:txBody>
      </p:sp>
      <p:sp>
        <p:nvSpPr>
          <p:cNvPr id="4" name="Date Placeholder 3">
            <a:extLst>
              <a:ext uri="{FF2B5EF4-FFF2-40B4-BE49-F238E27FC236}">
                <a16:creationId xmlns:a16="http://schemas.microsoft.com/office/drawing/2014/main" id="{254D5E34-395F-6F90-A076-624F988A9FBA}"/>
              </a:ext>
            </a:extLst>
          </p:cNvPr>
          <p:cNvSpPr>
            <a:spLocks noGrp="1"/>
          </p:cNvSpPr>
          <p:nvPr>
            <p:ph type="dt" sz="half" idx="10"/>
          </p:nvPr>
        </p:nvSpPr>
        <p:spPr/>
        <p:txBody>
          <a:bodyPr/>
          <a:lstStyle/>
          <a:p>
            <a:fld id="{2E51743C-D6E8-4FBE-BF40-9023A0DA6EF5}"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1613328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Analytical Processing (OLAP)</a:t>
            </a:r>
          </a:p>
        </p:txBody>
      </p:sp>
      <p:sp>
        <p:nvSpPr>
          <p:cNvPr id="3" name="Content Placeholder 2"/>
          <p:cNvSpPr>
            <a:spLocks noGrp="1"/>
          </p:cNvSpPr>
          <p:nvPr>
            <p:ph idx="1"/>
          </p:nvPr>
        </p:nvSpPr>
        <p:spPr/>
        <p:txBody>
          <a:bodyPr/>
          <a:lstStyle/>
          <a:p>
            <a:pPr>
              <a:lnSpc>
                <a:spcPct val="150000"/>
              </a:lnSpc>
            </a:pPr>
            <a:r>
              <a:rPr lang="en-US" dirty="0"/>
              <a:t>Supports </a:t>
            </a:r>
            <a:r>
              <a:rPr lang="en-US" b="1" dirty="0"/>
              <a:t>multidimensional data analysis</a:t>
            </a:r>
          </a:p>
          <a:p>
            <a:pPr lvl="1">
              <a:lnSpc>
                <a:spcPct val="150000"/>
              </a:lnSpc>
            </a:pPr>
            <a:r>
              <a:rPr lang="en-US" dirty="0"/>
              <a:t>Viewing data using multiple dimensions</a:t>
            </a:r>
          </a:p>
          <a:p>
            <a:pPr lvl="1">
              <a:lnSpc>
                <a:spcPct val="150000"/>
              </a:lnSpc>
            </a:pPr>
            <a:r>
              <a:rPr lang="en-US" dirty="0"/>
              <a:t>Each aspect of information (product, pricing, cost, region, time period) is different dimension</a:t>
            </a:r>
          </a:p>
          <a:p>
            <a:pPr>
              <a:lnSpc>
                <a:spcPct val="150000"/>
              </a:lnSpc>
            </a:pPr>
            <a:r>
              <a:rPr lang="en-US" dirty="0"/>
              <a:t>OLAP enables rapid, online answers to ad hoc queries</a:t>
            </a:r>
          </a:p>
        </p:txBody>
      </p:sp>
      <p:sp>
        <p:nvSpPr>
          <p:cNvPr id="4" name="Date Placeholder 3">
            <a:extLst>
              <a:ext uri="{FF2B5EF4-FFF2-40B4-BE49-F238E27FC236}">
                <a16:creationId xmlns:a16="http://schemas.microsoft.com/office/drawing/2014/main" id="{BD2196E2-6C54-9F36-7819-C0FF267EAE22}"/>
              </a:ext>
            </a:extLst>
          </p:cNvPr>
          <p:cNvSpPr>
            <a:spLocks noGrp="1"/>
          </p:cNvSpPr>
          <p:nvPr>
            <p:ph type="dt" sz="half" idx="10"/>
          </p:nvPr>
        </p:nvSpPr>
        <p:spPr/>
        <p:txBody>
          <a:bodyPr/>
          <a:lstStyle/>
          <a:p>
            <a:fld id="{EB942E75-FD6D-4990-B6C5-8DBDAC8E9E6C}"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738086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Mining</a:t>
            </a:r>
          </a:p>
        </p:txBody>
      </p:sp>
      <p:sp>
        <p:nvSpPr>
          <p:cNvPr id="3" name="Content Placeholder 2"/>
          <p:cNvSpPr>
            <a:spLocks noGrp="1"/>
          </p:cNvSpPr>
          <p:nvPr>
            <p:ph idx="1"/>
          </p:nvPr>
        </p:nvSpPr>
        <p:spPr/>
        <p:txBody>
          <a:bodyPr/>
          <a:lstStyle/>
          <a:p>
            <a:r>
              <a:rPr lang="en-US" sz="2200" b="1" dirty="0">
                <a:latin typeface="Calibri" panose="020F0502020204030204" pitchFamily="34" charset="0"/>
                <a:cs typeface="Calibri" panose="020F0502020204030204" pitchFamily="34" charset="0"/>
              </a:rPr>
              <a:t>Purpose:</a:t>
            </a:r>
            <a:r>
              <a:rPr lang="en-US" sz="2200" dirty="0">
                <a:latin typeface="Calibri" panose="020F0502020204030204" pitchFamily="34" charset="0"/>
                <a:cs typeface="Calibri" panose="020F0502020204030204" pitchFamily="34" charset="0"/>
              </a:rPr>
              <a:t> Discover </a:t>
            </a:r>
            <a:r>
              <a:rPr lang="en-US" sz="2200" b="1" dirty="0">
                <a:latin typeface="Calibri" panose="020F0502020204030204" pitchFamily="34" charset="0"/>
                <a:cs typeface="Calibri" panose="020F0502020204030204" pitchFamily="34" charset="0"/>
              </a:rPr>
              <a:t>hidden patterns, trends, and relationships</a:t>
            </a:r>
            <a:r>
              <a:rPr lang="en-US" sz="2200" dirty="0">
                <a:latin typeface="Calibri" panose="020F0502020204030204" pitchFamily="34" charset="0"/>
                <a:cs typeface="Calibri" panose="020F0502020204030204" pitchFamily="34" charset="0"/>
              </a:rPr>
              <a:t> within large datasets.</a:t>
            </a:r>
          </a:p>
          <a:p>
            <a:r>
              <a:rPr lang="en-US" sz="2200" b="1" dirty="0">
                <a:latin typeface="Calibri" panose="020F0502020204030204" pitchFamily="34" charset="0"/>
                <a:cs typeface="Calibri" panose="020F0502020204030204" pitchFamily="34" charset="0"/>
              </a:rPr>
              <a:t>Predictive Power:</a:t>
            </a:r>
            <a:r>
              <a:rPr lang="en-US" sz="2200" dirty="0">
                <a:latin typeface="Calibri" panose="020F0502020204030204" pitchFamily="34" charset="0"/>
                <a:cs typeface="Calibri" panose="020F0502020204030204" pitchFamily="34" charset="0"/>
              </a:rPr>
              <a:t> Generates rules from historical data to </a:t>
            </a:r>
            <a:r>
              <a:rPr lang="en-US" sz="2200" b="1" dirty="0">
                <a:latin typeface="Calibri" panose="020F0502020204030204" pitchFamily="34" charset="0"/>
                <a:cs typeface="Calibri" panose="020F0502020204030204" pitchFamily="34" charset="0"/>
              </a:rPr>
              <a:t>forecast future behavior</a:t>
            </a:r>
            <a:r>
              <a:rPr lang="en-US" sz="2200" dirty="0">
                <a:latin typeface="Calibri" panose="020F0502020204030204" pitchFamily="34" charset="0"/>
                <a:cs typeface="Calibri" panose="020F0502020204030204" pitchFamily="34" charset="0"/>
              </a:rPr>
              <a:t>.</a:t>
            </a:r>
          </a:p>
          <a:p>
            <a:r>
              <a:rPr lang="en-US" sz="2200" b="1" dirty="0">
                <a:latin typeface="Calibri" panose="020F0502020204030204" pitchFamily="34" charset="0"/>
                <a:cs typeface="Calibri" panose="020F0502020204030204" pitchFamily="34" charset="0"/>
              </a:rPr>
              <a:t>Types of information obtained from data mining:</a:t>
            </a:r>
            <a:endParaRPr lang="en-US" sz="2200" dirty="0">
              <a:latin typeface="Calibri" panose="020F0502020204030204" pitchFamily="34" charset="0"/>
              <a:cs typeface="Calibri" panose="020F0502020204030204" pitchFamily="34" charset="0"/>
            </a:endParaRPr>
          </a:p>
          <a:p>
            <a:pPr lvl="1"/>
            <a:r>
              <a:rPr lang="en-US" sz="2200" b="1" dirty="0">
                <a:latin typeface="Calibri" panose="020F0502020204030204" pitchFamily="34" charset="0"/>
                <a:cs typeface="Calibri" panose="020F0502020204030204" pitchFamily="34" charset="0"/>
              </a:rPr>
              <a:t>Associations:</a:t>
            </a:r>
            <a:r>
              <a:rPr lang="en-US" sz="2200" dirty="0">
                <a:latin typeface="Calibri" panose="020F0502020204030204" pitchFamily="34" charset="0"/>
                <a:cs typeface="Calibri" panose="020F0502020204030204" pitchFamily="34" charset="0"/>
              </a:rPr>
              <a:t> Relationships between items</a:t>
            </a:r>
          </a:p>
          <a:p>
            <a:pPr lvl="1"/>
            <a:r>
              <a:rPr lang="en-US" sz="2200" b="1" dirty="0">
                <a:latin typeface="Calibri" panose="020F0502020204030204" pitchFamily="34" charset="0"/>
                <a:cs typeface="Calibri" panose="020F0502020204030204" pitchFamily="34" charset="0"/>
              </a:rPr>
              <a:t>Sequences:</a:t>
            </a:r>
            <a:r>
              <a:rPr lang="en-US" sz="2200" dirty="0">
                <a:latin typeface="Calibri" panose="020F0502020204030204" pitchFamily="34" charset="0"/>
                <a:cs typeface="Calibri" panose="020F0502020204030204" pitchFamily="34" charset="0"/>
              </a:rPr>
              <a:t> Patterns over time </a:t>
            </a:r>
          </a:p>
          <a:p>
            <a:pPr lvl="1"/>
            <a:r>
              <a:rPr lang="en-US" sz="2200" b="1" dirty="0">
                <a:latin typeface="Calibri" panose="020F0502020204030204" pitchFamily="34" charset="0"/>
                <a:cs typeface="Calibri" panose="020F0502020204030204" pitchFamily="34" charset="0"/>
              </a:rPr>
              <a:t>Classification:</a:t>
            </a:r>
            <a:r>
              <a:rPr lang="en-US" sz="2200" dirty="0">
                <a:latin typeface="Calibri" panose="020F0502020204030204" pitchFamily="34" charset="0"/>
                <a:cs typeface="Calibri" panose="020F0502020204030204" pitchFamily="34" charset="0"/>
              </a:rPr>
              <a:t> Assigning data into predefined categories</a:t>
            </a:r>
          </a:p>
          <a:p>
            <a:pPr lvl="1"/>
            <a:r>
              <a:rPr lang="en-US" sz="2200" b="1" dirty="0">
                <a:latin typeface="Calibri" panose="020F0502020204030204" pitchFamily="34" charset="0"/>
                <a:cs typeface="Calibri" panose="020F0502020204030204" pitchFamily="34" charset="0"/>
              </a:rPr>
              <a:t>Clustering:</a:t>
            </a:r>
            <a:r>
              <a:rPr lang="en-US" sz="2200" dirty="0">
                <a:latin typeface="Calibri" panose="020F0502020204030204" pitchFamily="34" charset="0"/>
                <a:cs typeface="Calibri" panose="020F0502020204030204" pitchFamily="34" charset="0"/>
              </a:rPr>
              <a:t> Grouping similar data points without predefined categories</a:t>
            </a:r>
          </a:p>
          <a:p>
            <a:pPr lvl="1"/>
            <a:r>
              <a:rPr lang="en-US" sz="2200" b="1" dirty="0">
                <a:latin typeface="Calibri" panose="020F0502020204030204" pitchFamily="34" charset="0"/>
                <a:cs typeface="Calibri" panose="020F0502020204030204" pitchFamily="34" charset="0"/>
              </a:rPr>
              <a:t>Forecasting:</a:t>
            </a:r>
            <a:r>
              <a:rPr lang="en-US" sz="2200" dirty="0">
                <a:latin typeface="Calibri" panose="020F0502020204030204" pitchFamily="34" charset="0"/>
                <a:cs typeface="Calibri" panose="020F0502020204030204" pitchFamily="34" charset="0"/>
              </a:rPr>
              <a:t> Predicting future trends based on historical data</a:t>
            </a:r>
          </a:p>
        </p:txBody>
      </p:sp>
      <p:sp>
        <p:nvSpPr>
          <p:cNvPr id="4" name="Date Placeholder 3">
            <a:extLst>
              <a:ext uri="{FF2B5EF4-FFF2-40B4-BE49-F238E27FC236}">
                <a16:creationId xmlns:a16="http://schemas.microsoft.com/office/drawing/2014/main" id="{D2F9059A-B402-8582-267A-EE556C4DA928}"/>
              </a:ext>
            </a:extLst>
          </p:cNvPr>
          <p:cNvSpPr>
            <a:spLocks noGrp="1"/>
          </p:cNvSpPr>
          <p:nvPr>
            <p:ph type="dt" sz="half" idx="10"/>
          </p:nvPr>
        </p:nvSpPr>
        <p:spPr/>
        <p:txBody>
          <a:bodyPr/>
          <a:lstStyle/>
          <a:p>
            <a:fld id="{4D922A68-DCDA-4341-8A7A-AB17673DDE74}"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1955360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Mining</a:t>
            </a:r>
          </a:p>
        </p:txBody>
      </p:sp>
      <p:sp>
        <p:nvSpPr>
          <p:cNvPr id="3" name="Content Placeholder 2"/>
          <p:cNvSpPr>
            <a:spLocks noGrp="1"/>
          </p:cNvSpPr>
          <p:nvPr>
            <p:ph idx="1"/>
          </p:nvPr>
        </p:nvSpPr>
        <p:spPr>
          <a:xfrm>
            <a:off x="609600" y="1420218"/>
            <a:ext cx="10432648" cy="4525963"/>
          </a:xfrm>
        </p:spPr>
        <p:txBody>
          <a:bodyPr/>
          <a:lstStyle/>
          <a:p>
            <a:pPr>
              <a:lnSpc>
                <a:spcPct val="150000"/>
              </a:lnSpc>
            </a:pPr>
            <a:r>
              <a:rPr lang="en-US" sz="2400" b="1" dirty="0">
                <a:latin typeface="Calibri" panose="020F0502020204030204" pitchFamily="34" charset="0"/>
                <a:cs typeface="Calibri" panose="020F0502020204030204" pitchFamily="34" charset="0"/>
              </a:rPr>
              <a:t>Text mining</a:t>
            </a:r>
          </a:p>
          <a:p>
            <a:pPr lvl="1">
              <a:lnSpc>
                <a:spcPct val="150000"/>
              </a:lnSpc>
              <a:buFont typeface="Wingdings" pitchFamily="2" charset="2"/>
              <a:buChar char="ü"/>
            </a:pPr>
            <a:r>
              <a:rPr lang="en-SA" altLang="en-SA" sz="2400" dirty="0">
                <a:latin typeface="Calibri" panose="020F0502020204030204" pitchFamily="34" charset="0"/>
                <a:cs typeface="Calibri" panose="020F0502020204030204" pitchFamily="34" charset="0"/>
              </a:rPr>
              <a:t>Extracts </a:t>
            </a:r>
            <a:r>
              <a:rPr lang="en-SA" altLang="en-SA" sz="2400" b="1" dirty="0">
                <a:latin typeface="Calibri" panose="020F0502020204030204" pitchFamily="34" charset="0"/>
                <a:cs typeface="Calibri" panose="020F0502020204030204" pitchFamily="34" charset="0"/>
              </a:rPr>
              <a:t>key information</a:t>
            </a:r>
            <a:r>
              <a:rPr lang="en-SA" altLang="en-SA" sz="2400" dirty="0">
                <a:latin typeface="Calibri" panose="020F0502020204030204" pitchFamily="34" charset="0"/>
                <a:cs typeface="Calibri" panose="020F0502020204030204" pitchFamily="34" charset="0"/>
              </a:rPr>
              <a:t> from large </a:t>
            </a:r>
            <a:r>
              <a:rPr lang="en-SA" altLang="en-SA" sz="2400" b="1" dirty="0">
                <a:latin typeface="Calibri" panose="020F0502020204030204" pitchFamily="34" charset="0"/>
                <a:cs typeface="Calibri" panose="020F0502020204030204" pitchFamily="34" charset="0"/>
              </a:rPr>
              <a:t>unstructured datasets</a:t>
            </a:r>
            <a:r>
              <a:rPr lang="en-SA" altLang="en-SA" sz="2400" dirty="0">
                <a:latin typeface="Calibri" panose="020F0502020204030204" pitchFamily="34" charset="0"/>
                <a:cs typeface="Calibri" panose="020F0502020204030204" pitchFamily="34" charset="0"/>
              </a:rPr>
              <a:t>.</a:t>
            </a:r>
          </a:p>
          <a:p>
            <a:pPr lvl="1">
              <a:lnSpc>
                <a:spcPct val="150000"/>
              </a:lnSpc>
              <a:buFont typeface="Wingdings" pitchFamily="2" charset="2"/>
              <a:buChar char="ü"/>
            </a:pPr>
            <a:r>
              <a:rPr lang="en-SA" altLang="en-SA" sz="2400" dirty="0">
                <a:latin typeface="Calibri" panose="020F0502020204030204" pitchFamily="34" charset="0"/>
                <a:cs typeface="Calibri" panose="020F0502020204030204" pitchFamily="34" charset="0"/>
              </a:rPr>
              <a:t>Helps businesses analyze </a:t>
            </a:r>
            <a:r>
              <a:rPr lang="en-SA" altLang="en-SA" sz="2400" b="1" dirty="0">
                <a:latin typeface="Calibri" panose="020F0502020204030204" pitchFamily="34" charset="0"/>
                <a:cs typeface="Calibri" panose="020F0502020204030204" pitchFamily="34" charset="0"/>
              </a:rPr>
              <a:t>emails, surveys, call transcripts, legal documents, and service reports..</a:t>
            </a:r>
            <a:r>
              <a:rPr lang="en-SA" altLang="en-SA" sz="2400" dirty="0">
                <a:latin typeface="Calibri" panose="020F0502020204030204" pitchFamily="34" charset="0"/>
                <a:cs typeface="Calibri" panose="020F0502020204030204" pitchFamily="34" charset="0"/>
              </a:rPr>
              <a:t>.</a:t>
            </a:r>
          </a:p>
          <a:p>
            <a:pPr lvl="1">
              <a:lnSpc>
                <a:spcPct val="150000"/>
              </a:lnSpc>
              <a:buFont typeface="Wingdings" pitchFamily="2" charset="2"/>
              <a:buChar char="ü"/>
            </a:pPr>
            <a:r>
              <a:rPr lang="en-SA" altLang="en-SA" sz="2400" b="1" dirty="0">
                <a:latin typeface="Calibri" panose="020F0502020204030204" pitchFamily="34" charset="0"/>
                <a:cs typeface="Calibri" panose="020F0502020204030204" pitchFamily="34" charset="0"/>
              </a:rPr>
              <a:t>Discovers patterns, relationships, and summarizes information</a:t>
            </a:r>
            <a:r>
              <a:rPr lang="en-SA" altLang="en-SA" sz="2400" dirty="0">
                <a:latin typeface="Calibri" panose="020F0502020204030204" pitchFamily="34" charset="0"/>
                <a:cs typeface="Calibri" panose="020F0502020204030204" pitchFamily="34" charset="0"/>
              </a:rPr>
              <a:t> for decision-making.</a:t>
            </a:r>
          </a:p>
          <a:p>
            <a:pPr>
              <a:lnSpc>
                <a:spcPct val="150000"/>
              </a:lnSpc>
            </a:pPr>
            <a:endParaRPr lang="en-US" sz="2400"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DB7D6A67-4107-8ED8-DC6F-5CF016E3CB1B}"/>
              </a:ext>
            </a:extLst>
          </p:cNvPr>
          <p:cNvSpPr>
            <a:spLocks noGrp="1"/>
          </p:cNvSpPr>
          <p:nvPr>
            <p:ph type="dt" sz="half" idx="10"/>
          </p:nvPr>
        </p:nvSpPr>
        <p:spPr/>
        <p:txBody>
          <a:bodyPr/>
          <a:lstStyle/>
          <a:p>
            <a:fld id="{E4D66E73-F72A-4F7B-86D9-7B05A7A7091B}"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3646941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D40C-BB1E-3AFD-4C00-1BB7CC236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160BB-7659-ABDD-7116-4B21B6D8E9A1}"/>
              </a:ext>
            </a:extLst>
          </p:cNvPr>
          <p:cNvSpPr>
            <a:spLocks noGrp="1"/>
          </p:cNvSpPr>
          <p:nvPr>
            <p:ph type="title"/>
          </p:nvPr>
        </p:nvSpPr>
        <p:spPr/>
        <p:txBody>
          <a:bodyPr/>
          <a:lstStyle/>
          <a:p>
            <a:r>
              <a:rPr lang="en-US" dirty="0"/>
              <a:t>Web Mining</a:t>
            </a:r>
          </a:p>
        </p:txBody>
      </p:sp>
      <p:sp>
        <p:nvSpPr>
          <p:cNvPr id="3" name="Content Placeholder 2">
            <a:extLst>
              <a:ext uri="{FF2B5EF4-FFF2-40B4-BE49-F238E27FC236}">
                <a16:creationId xmlns:a16="http://schemas.microsoft.com/office/drawing/2014/main" id="{7F396A53-DCE3-2114-BF6B-56EC88800E7B}"/>
              </a:ext>
            </a:extLst>
          </p:cNvPr>
          <p:cNvSpPr>
            <a:spLocks noGrp="1"/>
          </p:cNvSpPr>
          <p:nvPr>
            <p:ph idx="1"/>
          </p:nvPr>
        </p:nvSpPr>
        <p:spPr>
          <a:xfrm>
            <a:off x="609600" y="1828800"/>
            <a:ext cx="10432648" cy="4117380"/>
          </a:xfrm>
        </p:spPr>
        <p:txBody>
          <a:bodyPr/>
          <a:lstStyle/>
          <a:p>
            <a:pPr marL="0" indent="0" algn="just">
              <a:buNone/>
            </a:pPr>
            <a:r>
              <a:rPr lang="en-US" sz="2200" dirty="0">
                <a:latin typeface="Calibri" panose="020F0502020204030204" pitchFamily="34" charset="0"/>
                <a:cs typeface="Calibri" panose="020F0502020204030204" pitchFamily="34" charset="0"/>
              </a:rPr>
              <a:t>The process of </a:t>
            </a:r>
            <a:r>
              <a:rPr lang="en-US" sz="2200" b="1" dirty="0">
                <a:latin typeface="Calibri" panose="020F0502020204030204" pitchFamily="34" charset="0"/>
                <a:cs typeface="Calibri" panose="020F0502020204030204" pitchFamily="34" charset="0"/>
              </a:rPr>
              <a:t>discovering and analyzing useful patterns and information from the web</a:t>
            </a:r>
            <a:r>
              <a:rPr lang="en-US" sz="2200" dirty="0">
                <a:latin typeface="Calibri" panose="020F0502020204030204" pitchFamily="34" charset="0"/>
                <a:cs typeface="Calibri" panose="020F0502020204030204" pitchFamily="34" charset="0"/>
              </a:rPr>
              <a:t> to support decision-making or improve services.</a:t>
            </a:r>
          </a:p>
          <a:p>
            <a:pPr marL="0" indent="0" algn="just">
              <a:buNone/>
            </a:pPr>
            <a:r>
              <a:rPr lang="en-US" sz="2200" b="1" dirty="0">
                <a:latin typeface="Calibri" panose="020F0502020204030204" pitchFamily="34" charset="0"/>
                <a:cs typeface="Calibri" panose="020F0502020204030204" pitchFamily="34" charset="0"/>
              </a:rPr>
              <a:t>Types of Web Mining:</a:t>
            </a:r>
            <a:endParaRPr lang="en-US" sz="2200" dirty="0">
              <a:latin typeface="Calibri" panose="020F0502020204030204" pitchFamily="34" charset="0"/>
              <a:cs typeface="Calibri" panose="020F0502020204030204" pitchFamily="34" charset="0"/>
            </a:endParaRPr>
          </a:p>
          <a:p>
            <a:pPr algn="just"/>
            <a:r>
              <a:rPr lang="en-US" sz="2200" b="1" dirty="0">
                <a:latin typeface="Calibri" panose="020F0502020204030204" pitchFamily="34" charset="0"/>
                <a:cs typeface="Calibri" panose="020F0502020204030204" pitchFamily="34" charset="0"/>
              </a:rPr>
              <a:t>Web Content Mining: </a:t>
            </a:r>
            <a:r>
              <a:rPr lang="en-US" sz="2200" dirty="0">
                <a:latin typeface="Calibri" panose="020F0502020204030204" pitchFamily="34" charset="0"/>
                <a:cs typeface="Calibri" panose="020F0502020204030204" pitchFamily="34" charset="0"/>
              </a:rPr>
              <a:t>Extracts information from </a:t>
            </a:r>
            <a:r>
              <a:rPr lang="en-US" sz="2200" b="1" dirty="0">
                <a:latin typeface="Calibri" panose="020F0502020204030204" pitchFamily="34" charset="0"/>
                <a:cs typeface="Calibri" panose="020F0502020204030204" pitchFamily="34" charset="0"/>
              </a:rPr>
              <a:t>web pages and online documents</a:t>
            </a:r>
            <a:r>
              <a:rPr lang="en-US" sz="2200" dirty="0">
                <a:latin typeface="Calibri" panose="020F0502020204030204" pitchFamily="34" charset="0"/>
                <a:cs typeface="Calibri" panose="020F0502020204030204" pitchFamily="34" charset="0"/>
              </a:rPr>
              <a:t> (e.g., text, images, videos).</a:t>
            </a:r>
          </a:p>
          <a:p>
            <a:pPr algn="just"/>
            <a:r>
              <a:rPr lang="en-US" sz="2200" b="1" dirty="0">
                <a:latin typeface="Calibri" panose="020F0502020204030204" pitchFamily="34" charset="0"/>
                <a:cs typeface="Calibri" panose="020F0502020204030204" pitchFamily="34" charset="0"/>
              </a:rPr>
              <a:t>Web Structure Mining: </a:t>
            </a:r>
            <a:r>
              <a:rPr lang="en-US" sz="2200" dirty="0">
                <a:latin typeface="Calibri" panose="020F0502020204030204" pitchFamily="34" charset="0"/>
                <a:cs typeface="Calibri" panose="020F0502020204030204" pitchFamily="34" charset="0"/>
              </a:rPr>
              <a:t>Analyzes the </a:t>
            </a:r>
            <a:r>
              <a:rPr lang="en-US" sz="2200" b="1" dirty="0">
                <a:latin typeface="Calibri" panose="020F0502020204030204" pitchFamily="34" charset="0"/>
                <a:cs typeface="Calibri" panose="020F0502020204030204" pitchFamily="34" charset="0"/>
              </a:rPr>
              <a:t>link structure of websites</a:t>
            </a:r>
            <a:r>
              <a:rPr lang="en-US" sz="2200" dirty="0">
                <a:latin typeface="Calibri" panose="020F0502020204030204" pitchFamily="34" charset="0"/>
                <a:cs typeface="Calibri" panose="020F0502020204030204" pitchFamily="34" charset="0"/>
              </a:rPr>
              <a:t> to understand relationships between pages.</a:t>
            </a:r>
          </a:p>
          <a:p>
            <a:pPr algn="just"/>
            <a:r>
              <a:rPr lang="en-US" sz="2200" b="1" dirty="0">
                <a:latin typeface="Calibri" panose="020F0502020204030204" pitchFamily="34" charset="0"/>
                <a:cs typeface="Calibri" panose="020F0502020204030204" pitchFamily="34" charset="0"/>
              </a:rPr>
              <a:t>Web Usage Mining: </a:t>
            </a:r>
            <a:r>
              <a:rPr lang="en-US" sz="2200" dirty="0">
                <a:latin typeface="Calibri" panose="020F0502020204030204" pitchFamily="34" charset="0"/>
                <a:cs typeface="Calibri" panose="020F0502020204030204" pitchFamily="34" charset="0"/>
              </a:rPr>
              <a:t>Studies </a:t>
            </a:r>
            <a:r>
              <a:rPr lang="en-US" sz="2200" b="1" dirty="0">
                <a:latin typeface="Calibri" panose="020F0502020204030204" pitchFamily="34" charset="0"/>
                <a:cs typeface="Calibri" panose="020F0502020204030204" pitchFamily="34" charset="0"/>
              </a:rPr>
              <a:t>user behavior</a:t>
            </a:r>
            <a:r>
              <a:rPr lang="en-US" sz="2200" dirty="0">
                <a:latin typeface="Calibri" panose="020F0502020204030204" pitchFamily="34" charset="0"/>
                <a:cs typeface="Calibri" panose="020F0502020204030204" pitchFamily="34" charset="0"/>
              </a:rPr>
              <a:t> through browsing patterns.</a:t>
            </a:r>
          </a:p>
          <a:p>
            <a:pPr algn="just"/>
            <a:endParaRPr lang="en-US" sz="2200" b="1"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AFD76F37-2ACC-56CC-F4F6-EB5F5F21023A}"/>
              </a:ext>
            </a:extLst>
          </p:cNvPr>
          <p:cNvSpPr>
            <a:spLocks noGrp="1"/>
          </p:cNvSpPr>
          <p:nvPr>
            <p:ph type="dt" sz="half" idx="10"/>
          </p:nvPr>
        </p:nvSpPr>
        <p:spPr/>
        <p:txBody>
          <a:bodyPr/>
          <a:lstStyle/>
          <a:p>
            <a:fld id="{E4D66E73-F72A-4F7B-86D9-7B05A7A7091B}" type="datetime12">
              <a:rPr lang="en-US">
                <a:solidFill>
                  <a:prstClr val="black"/>
                </a:solidFill>
                <a:latin typeface="Arial"/>
              </a:rPr>
              <a:pPr/>
              <a:t>5:46 PM</a:t>
            </a:fld>
            <a:endParaRPr lang="en-US" dirty="0">
              <a:solidFill>
                <a:prstClr val="black"/>
              </a:solidFill>
              <a:latin typeface="Arial"/>
            </a:endParaRPr>
          </a:p>
        </p:txBody>
      </p:sp>
    </p:spTree>
    <p:extLst>
      <p:ext uri="{BB962C8B-B14F-4D97-AF65-F5344CB8AC3E}">
        <p14:creationId xmlns:p14="http://schemas.microsoft.com/office/powerpoint/2010/main" val="844803195"/>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2280</Words>
  <Application>Microsoft Macintosh PowerPoint</Application>
  <PresentationFormat>Widescreen</PresentationFormat>
  <Paragraphs>193</Paragraphs>
  <Slides>21</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Calibri</vt:lpstr>
      <vt:lpstr>Courier New</vt:lpstr>
      <vt:lpstr>Times New Roman</vt:lpstr>
      <vt:lpstr>Verdana</vt:lpstr>
      <vt:lpstr>Wingdings</vt:lpstr>
      <vt:lpstr>508 Lecture</vt:lpstr>
      <vt:lpstr>Management Information Systems: Managing the Digital Firm</vt:lpstr>
      <vt:lpstr>File Organization Terms and Concepts</vt:lpstr>
      <vt:lpstr>The Data structure</vt:lpstr>
      <vt:lpstr>Problems with the Traditional File Environment</vt:lpstr>
      <vt:lpstr>Traditional File Processing</vt:lpstr>
      <vt:lpstr>Database Management Systems (DBMS)</vt:lpstr>
      <vt:lpstr>Human Resources Database with Multiple Views</vt:lpstr>
      <vt:lpstr>Relational DBMS</vt:lpstr>
      <vt:lpstr>Relational Database Tables</vt:lpstr>
      <vt:lpstr>Designing Databases</vt:lpstr>
      <vt:lpstr>Unnormalized vs normalized Relation for Order</vt:lpstr>
      <vt:lpstr>Business Intelligence Infrastructure (1 of 3)</vt:lpstr>
      <vt:lpstr>Database vs Data warehouse</vt:lpstr>
      <vt:lpstr>Business Intelligence Infrastructure (2 of 3)</vt:lpstr>
      <vt:lpstr>Business Intelligence Infrastructure (3 of 3)</vt:lpstr>
      <vt:lpstr>Modern Business Intelligence Infrastructure</vt:lpstr>
      <vt:lpstr>Analytical Tools: Relationships, Patterns, Trends</vt:lpstr>
      <vt:lpstr>Online Analytical Processing (OLAP)</vt:lpstr>
      <vt:lpstr>Data Mining</vt:lpstr>
      <vt:lpstr>Text Mining</vt:lpstr>
      <vt:lpstr>Web Mining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Takwa Tlili</dc:creator>
  <cp:lastModifiedBy>Dr. Takwa Tlili</cp:lastModifiedBy>
  <cp:revision>39</cp:revision>
  <dcterms:created xsi:type="dcterms:W3CDTF">2025-09-28T06:07:14Z</dcterms:created>
  <dcterms:modified xsi:type="dcterms:W3CDTF">2026-10-10T15:48:53Z</dcterms:modified>
</cp:coreProperties>
</file>